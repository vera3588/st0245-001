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3" r:id="rId5"/>
    <p:sldId id="258" r:id="rId6"/>
    <p:sldId id="259" r:id="rId7"/>
    <p:sldId id="264" r:id="rId8"/>
    <p:sldId id="265" r:id="rId9"/>
    <p:sldId id="262" r:id="rId10"/>
    <p:sldId id="266" r:id="rId11"/>
    <p:sldId id="267" r:id="rId12"/>
    <p:sldId id="268" r:id="rId13"/>
  </p:sldIdLst>
  <p:sldSz cx="12192000" cy="6858000"/>
  <p:notesSz cx="12192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7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view3D>
      <c:rotX val="11"/>
      <c:rotY val="25"/>
      <c:rAngAx val="1"/>
    </c:view3D>
    <c:floor>
      <c:thickness val="0"/>
      <c:spPr>
        <a:solidFill>
          <a:srgbClr val="CCCCCC"/>
        </a:solidFill>
        <a:ln w="9360">
          <a:noFill/>
        </a:ln>
      </c:spPr>
    </c:floor>
    <c:sideWall>
      <c:thickness val="0"/>
      <c:spPr>
        <a:noFill/>
        <a:ln w="9360">
          <a:solidFill>
            <a:srgbClr val="B3B3B3"/>
          </a:solidFill>
          <a:round/>
        </a:ln>
      </c:spPr>
    </c:sideWall>
    <c:backWall>
      <c:thickness val="0"/>
      <c:spPr>
        <a:noFill/>
        <a:ln w="9360">
          <a:solidFill>
            <a:srgbClr val="B3B3B3"/>
          </a:solidFill>
          <a:round/>
        </a:ln>
      </c:spPr>
    </c:backWall>
    <c:plotArea>
      <c:layout/>
      <c:bar3D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cylinder"/>
        <c:axId val="56863768"/>
        <c:axId val="81460992"/>
        <c:axId val="0"/>
      </c:bar3DChart>
      <c:catAx>
        <c:axId val="5686376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r>
                  <a:rPr lang="es-CO"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Training Dataset Size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9360">
            <a:solidFill>
              <a:srgbClr val="B3B3B3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rial"/>
                <a:ea typeface="DejaVu Sans"/>
              </a:defRPr>
            </a:pPr>
            <a:endParaRPr lang="es-CO"/>
          </a:p>
        </c:txPr>
        <c:crossAx val="81460992"/>
        <c:crosses val="autoZero"/>
        <c:auto val="1"/>
        <c:lblAlgn val="ctr"/>
        <c:lblOffset val="100"/>
        <c:noMultiLvlLbl val="0"/>
      </c:catAx>
      <c:valAx>
        <c:axId val="81460992"/>
        <c:scaling>
          <c:orientation val="minMax"/>
        </c:scaling>
        <c:delete val="0"/>
        <c:axPos val="l"/>
        <c:majorGridlines>
          <c:spPr>
            <a:ln w="9360">
              <a:solidFill>
                <a:srgbClr val="B3B3B3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r>
                  <a:rPr lang="es-CO" sz="9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Memory Consumption (MB)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9360">
            <a:solidFill>
              <a:srgbClr val="B3B3B3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Arial"/>
                <a:ea typeface="DejaVu Sans"/>
              </a:defRPr>
            </a:pPr>
            <a:endParaRPr lang="es-CO"/>
          </a:p>
        </c:txPr>
        <c:crossAx val="56863768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 w="936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B2B8E-2013-4ED8-AE63-90A39FE00364}" type="datetimeFigureOut">
              <a:rPr lang="es-CO" smtClean="0"/>
              <a:t>19/11/2020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8F9EF-7CAA-453C-B8A9-6FF9D4A12E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152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8F9EF-7CAA-453C-B8A9-6FF9D4A12E53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312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f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56835" cy="6832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19810"/>
            <a:ext cx="3645408" cy="6859523"/>
          </a:xfrm>
          <a:custGeom>
            <a:avLst/>
            <a:gdLst/>
            <a:ahLst/>
            <a:cxnLst/>
            <a:rect l="l" t="t" r="r" b="b"/>
            <a:pathLst>
              <a:path w="3645408" h="6859523">
                <a:moveTo>
                  <a:pt x="3645408" y="0"/>
                </a:moveTo>
                <a:lnTo>
                  <a:pt x="0" y="0"/>
                </a:lnTo>
                <a:lnTo>
                  <a:pt x="0" y="6838186"/>
                </a:lnTo>
                <a:lnTo>
                  <a:pt x="3645408" y="6838186"/>
                </a:lnTo>
                <a:lnTo>
                  <a:pt x="3645408" y="0"/>
                </a:lnTo>
                <a:close/>
              </a:path>
            </a:pathLst>
          </a:custGeom>
          <a:solidFill>
            <a:srgbClr val="A2A8A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-48362" y="1427590"/>
            <a:ext cx="3742131" cy="39776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7104" marR="91439">
              <a:lnSpc>
                <a:spcPts val="5010"/>
              </a:lnSpc>
              <a:spcBef>
                <a:spcPts val="250"/>
              </a:spcBef>
            </a:pPr>
            <a:r>
              <a:rPr lang="en-US" sz="4800" spc="0" dirty="0">
                <a:solidFill>
                  <a:srgbClr val="001E33"/>
                </a:solidFill>
                <a:latin typeface="Arial"/>
                <a:cs typeface="Arial"/>
              </a:rPr>
              <a:t>Predictive Structures for Academic Success Testing pro</a:t>
            </a:r>
            <a:endParaRPr sz="4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-4572" y="1522"/>
            <a:ext cx="12196572" cy="685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lang="es-CO"/>
          </a:p>
        </p:txBody>
      </p:sp>
      <p:sp>
        <p:nvSpPr>
          <p:cNvPr id="10" name="object 10"/>
          <p:cNvSpPr/>
          <p:nvPr/>
        </p:nvSpPr>
        <p:spPr>
          <a:xfrm>
            <a:off x="9218676" y="1757172"/>
            <a:ext cx="2508504" cy="2487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052560" y="1645920"/>
            <a:ext cx="2834259" cy="2742818"/>
          </a:xfrm>
          <a:custGeom>
            <a:avLst/>
            <a:gdLst/>
            <a:ahLst/>
            <a:cxnLst/>
            <a:rect l="l" t="t" r="r" b="b"/>
            <a:pathLst>
              <a:path w="2834259" h="2742818">
                <a:moveTo>
                  <a:pt x="2834259" y="0"/>
                </a:moveTo>
                <a:lnTo>
                  <a:pt x="0" y="0"/>
                </a:lnTo>
                <a:lnTo>
                  <a:pt x="0" y="2742818"/>
                </a:lnTo>
                <a:lnTo>
                  <a:pt x="423529" y="1694735"/>
                </a:lnTo>
                <a:lnTo>
                  <a:pt x="416971" y="1667621"/>
                </a:lnTo>
                <a:lnTo>
                  <a:pt x="411133" y="1640280"/>
                </a:lnTo>
                <a:lnTo>
                  <a:pt x="401589" y="1584812"/>
                </a:lnTo>
                <a:lnTo>
                  <a:pt x="394840" y="1528133"/>
                </a:lnTo>
                <a:lnTo>
                  <a:pt x="390832" y="1470040"/>
                </a:lnTo>
                <a:lnTo>
                  <a:pt x="389509" y="1410334"/>
                </a:lnTo>
                <a:lnTo>
                  <a:pt x="389838" y="1380268"/>
                </a:lnTo>
                <a:lnTo>
                  <a:pt x="392497" y="1321393"/>
                </a:lnTo>
                <a:lnTo>
                  <a:pt x="397869" y="1264030"/>
                </a:lnTo>
                <a:lnTo>
                  <a:pt x="406008" y="1207979"/>
                </a:lnTo>
                <a:lnTo>
                  <a:pt x="416971" y="1153036"/>
                </a:lnTo>
                <a:lnTo>
                  <a:pt x="430813" y="1099002"/>
                </a:lnTo>
                <a:lnTo>
                  <a:pt x="447590" y="1045675"/>
                </a:lnTo>
                <a:lnTo>
                  <a:pt x="467358" y="992854"/>
                </a:lnTo>
                <a:lnTo>
                  <a:pt x="490171" y="940337"/>
                </a:lnTo>
                <a:lnTo>
                  <a:pt x="516086" y="887925"/>
                </a:lnTo>
                <a:lnTo>
                  <a:pt x="544920" y="835829"/>
                </a:lnTo>
                <a:lnTo>
                  <a:pt x="575440" y="786241"/>
                </a:lnTo>
                <a:lnTo>
                  <a:pt x="607585" y="739386"/>
                </a:lnTo>
                <a:lnTo>
                  <a:pt x="641501" y="695113"/>
                </a:lnTo>
                <a:lnTo>
                  <a:pt x="677330" y="653275"/>
                </a:lnTo>
                <a:lnTo>
                  <a:pt x="715217" y="613721"/>
                </a:lnTo>
                <a:lnTo>
                  <a:pt x="755306" y="576302"/>
                </a:lnTo>
                <a:lnTo>
                  <a:pt x="797740" y="540869"/>
                </a:lnTo>
                <a:lnTo>
                  <a:pt x="842664" y="507272"/>
                </a:lnTo>
                <a:lnTo>
                  <a:pt x="890223" y="475362"/>
                </a:lnTo>
                <a:lnTo>
                  <a:pt x="940179" y="445244"/>
                </a:lnTo>
                <a:lnTo>
                  <a:pt x="990416" y="418207"/>
                </a:lnTo>
                <a:lnTo>
                  <a:pt x="1040749" y="394406"/>
                </a:lnTo>
                <a:lnTo>
                  <a:pt x="1091370" y="373782"/>
                </a:lnTo>
                <a:lnTo>
                  <a:pt x="1142477" y="356278"/>
                </a:lnTo>
                <a:lnTo>
                  <a:pt x="1194263" y="341836"/>
                </a:lnTo>
                <a:lnTo>
                  <a:pt x="1246923" y="330397"/>
                </a:lnTo>
                <a:lnTo>
                  <a:pt x="1300654" y="321905"/>
                </a:lnTo>
                <a:lnTo>
                  <a:pt x="1355650" y="316300"/>
                </a:lnTo>
                <a:lnTo>
                  <a:pt x="1412105" y="313526"/>
                </a:lnTo>
                <a:lnTo>
                  <a:pt x="1440942" y="313181"/>
                </a:lnTo>
                <a:lnTo>
                  <a:pt x="1469761" y="313526"/>
                </a:lnTo>
                <a:lnTo>
                  <a:pt x="1526192" y="316300"/>
                </a:lnTo>
                <a:lnTo>
                  <a:pt x="1581175" y="321905"/>
                </a:lnTo>
                <a:lnTo>
                  <a:pt x="1634903" y="330397"/>
                </a:lnTo>
                <a:lnTo>
                  <a:pt x="1687568" y="341836"/>
                </a:lnTo>
                <a:lnTo>
                  <a:pt x="1739364" y="356278"/>
                </a:lnTo>
                <a:lnTo>
                  <a:pt x="1790482" y="373782"/>
                </a:lnTo>
                <a:lnTo>
                  <a:pt x="1841117" y="394406"/>
                </a:lnTo>
                <a:lnTo>
                  <a:pt x="1891459" y="418207"/>
                </a:lnTo>
                <a:lnTo>
                  <a:pt x="1941703" y="445244"/>
                </a:lnTo>
                <a:lnTo>
                  <a:pt x="1991642" y="475362"/>
                </a:lnTo>
                <a:lnTo>
                  <a:pt x="2039170" y="507272"/>
                </a:lnTo>
                <a:lnTo>
                  <a:pt x="2084070" y="540869"/>
                </a:lnTo>
                <a:lnTo>
                  <a:pt x="2126485" y="576302"/>
                </a:lnTo>
                <a:lnTo>
                  <a:pt x="2166560" y="613721"/>
                </a:lnTo>
                <a:lnTo>
                  <a:pt x="2204438" y="653275"/>
                </a:lnTo>
                <a:lnTo>
                  <a:pt x="2240261" y="695113"/>
                </a:lnTo>
                <a:lnTo>
                  <a:pt x="2274173" y="739386"/>
                </a:lnTo>
                <a:lnTo>
                  <a:pt x="2306317" y="786241"/>
                </a:lnTo>
                <a:lnTo>
                  <a:pt x="2336836" y="835829"/>
                </a:lnTo>
                <a:lnTo>
                  <a:pt x="2365672" y="887925"/>
                </a:lnTo>
                <a:lnTo>
                  <a:pt x="2391608" y="940337"/>
                </a:lnTo>
                <a:lnTo>
                  <a:pt x="2414458" y="992854"/>
                </a:lnTo>
                <a:lnTo>
                  <a:pt x="2434273" y="1045675"/>
                </a:lnTo>
                <a:lnTo>
                  <a:pt x="2451105" y="1099002"/>
                </a:lnTo>
                <a:lnTo>
                  <a:pt x="2465004" y="1153036"/>
                </a:lnTo>
                <a:lnTo>
                  <a:pt x="2476022" y="1207979"/>
                </a:lnTo>
                <a:lnTo>
                  <a:pt x="2484209" y="1264030"/>
                </a:lnTo>
                <a:lnTo>
                  <a:pt x="2489617" y="1321393"/>
                </a:lnTo>
                <a:lnTo>
                  <a:pt x="2492296" y="1380268"/>
                </a:lnTo>
                <a:lnTo>
                  <a:pt x="2492629" y="1410334"/>
                </a:lnTo>
                <a:lnTo>
                  <a:pt x="2834259" y="2742818"/>
                </a:lnTo>
                <a:lnTo>
                  <a:pt x="2834259" y="0"/>
                </a:lnTo>
                <a:close/>
              </a:path>
              <a:path w="2834259" h="2742818">
                <a:moveTo>
                  <a:pt x="2834259" y="2742818"/>
                </a:moveTo>
                <a:lnTo>
                  <a:pt x="2492629" y="1410334"/>
                </a:lnTo>
                <a:lnTo>
                  <a:pt x="2492296" y="1440401"/>
                </a:lnTo>
                <a:lnTo>
                  <a:pt x="2491294" y="1470040"/>
                </a:lnTo>
                <a:lnTo>
                  <a:pt x="2487257" y="1528133"/>
                </a:lnTo>
                <a:lnTo>
                  <a:pt x="2480466" y="1584812"/>
                </a:lnTo>
                <a:lnTo>
                  <a:pt x="2470870" y="1640280"/>
                </a:lnTo>
                <a:lnTo>
                  <a:pt x="2458418" y="1694735"/>
                </a:lnTo>
                <a:lnTo>
                  <a:pt x="2443059" y="1748379"/>
                </a:lnTo>
                <a:lnTo>
                  <a:pt x="2424742" y="1801412"/>
                </a:lnTo>
                <a:lnTo>
                  <a:pt x="2403416" y="1854034"/>
                </a:lnTo>
                <a:lnTo>
                  <a:pt x="2379029" y="1906446"/>
                </a:lnTo>
                <a:lnTo>
                  <a:pt x="2351532" y="1958847"/>
                </a:lnTo>
                <a:lnTo>
                  <a:pt x="2321771" y="2009892"/>
                </a:lnTo>
                <a:lnTo>
                  <a:pt x="2290457" y="2058122"/>
                </a:lnTo>
                <a:lnTo>
                  <a:pt x="2257447" y="2103686"/>
                </a:lnTo>
                <a:lnTo>
                  <a:pt x="2222597" y="2146734"/>
                </a:lnTo>
                <a:lnTo>
                  <a:pt x="2185765" y="2187416"/>
                </a:lnTo>
                <a:lnTo>
                  <a:pt x="2146806" y="2225880"/>
                </a:lnTo>
                <a:lnTo>
                  <a:pt x="2105579" y="2262276"/>
                </a:lnTo>
                <a:lnTo>
                  <a:pt x="2061939" y="2296753"/>
                </a:lnTo>
                <a:lnTo>
                  <a:pt x="2015743" y="2329461"/>
                </a:lnTo>
                <a:lnTo>
                  <a:pt x="1966849" y="2360548"/>
                </a:lnTo>
                <a:lnTo>
                  <a:pt x="1916582" y="2389266"/>
                </a:lnTo>
                <a:lnTo>
                  <a:pt x="1866312" y="2414725"/>
                </a:lnTo>
                <a:lnTo>
                  <a:pt x="1815848" y="2436980"/>
                </a:lnTo>
                <a:lnTo>
                  <a:pt x="1764996" y="2456087"/>
                </a:lnTo>
                <a:lnTo>
                  <a:pt x="1713563" y="2472102"/>
                </a:lnTo>
                <a:lnTo>
                  <a:pt x="1661357" y="2485081"/>
                </a:lnTo>
                <a:lnTo>
                  <a:pt x="1608184" y="2495078"/>
                </a:lnTo>
                <a:lnTo>
                  <a:pt x="1553853" y="2502150"/>
                </a:lnTo>
                <a:lnTo>
                  <a:pt x="1498169" y="2506353"/>
                </a:lnTo>
                <a:lnTo>
                  <a:pt x="1440942" y="2507741"/>
                </a:lnTo>
                <a:lnTo>
                  <a:pt x="1412105" y="2507396"/>
                </a:lnTo>
                <a:lnTo>
                  <a:pt x="1355650" y="2504607"/>
                </a:lnTo>
                <a:lnTo>
                  <a:pt x="1300654" y="2498977"/>
                </a:lnTo>
                <a:lnTo>
                  <a:pt x="1246923" y="2490449"/>
                </a:lnTo>
                <a:lnTo>
                  <a:pt x="1194263" y="2478967"/>
                </a:lnTo>
                <a:lnTo>
                  <a:pt x="1142477" y="2464478"/>
                </a:lnTo>
                <a:lnTo>
                  <a:pt x="1091370" y="2446923"/>
                </a:lnTo>
                <a:lnTo>
                  <a:pt x="1040749" y="2426249"/>
                </a:lnTo>
                <a:lnTo>
                  <a:pt x="990416" y="2402399"/>
                </a:lnTo>
                <a:lnTo>
                  <a:pt x="940179" y="2375318"/>
                </a:lnTo>
                <a:lnTo>
                  <a:pt x="890223" y="2345198"/>
                </a:lnTo>
                <a:lnTo>
                  <a:pt x="842664" y="2313319"/>
                </a:lnTo>
                <a:lnTo>
                  <a:pt x="797740" y="2279745"/>
                </a:lnTo>
                <a:lnTo>
                  <a:pt x="755306" y="2244327"/>
                </a:lnTo>
                <a:lnTo>
                  <a:pt x="715217" y="2206916"/>
                </a:lnTo>
                <a:lnTo>
                  <a:pt x="677330" y="2167362"/>
                </a:lnTo>
                <a:lnTo>
                  <a:pt x="641501" y="2125515"/>
                </a:lnTo>
                <a:lnTo>
                  <a:pt x="607585" y="2081228"/>
                </a:lnTo>
                <a:lnTo>
                  <a:pt x="575440" y="2034350"/>
                </a:lnTo>
                <a:lnTo>
                  <a:pt x="544920" y="1984731"/>
                </a:lnTo>
                <a:lnTo>
                  <a:pt x="516086" y="1932635"/>
                </a:lnTo>
                <a:lnTo>
                  <a:pt x="490171" y="1880254"/>
                </a:lnTo>
                <a:lnTo>
                  <a:pt x="467358" y="1827762"/>
                </a:lnTo>
                <a:lnTo>
                  <a:pt x="447590" y="1774959"/>
                </a:lnTo>
                <a:lnTo>
                  <a:pt x="430813" y="1721646"/>
                </a:lnTo>
                <a:lnTo>
                  <a:pt x="423529" y="1694735"/>
                </a:lnTo>
                <a:lnTo>
                  <a:pt x="0" y="2742818"/>
                </a:lnTo>
                <a:lnTo>
                  <a:pt x="2834259" y="27428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472" y="1900427"/>
            <a:ext cx="2103120" cy="2194560"/>
          </a:xfrm>
          <a:custGeom>
            <a:avLst/>
            <a:gdLst/>
            <a:ahLst/>
            <a:cxnLst/>
            <a:rect l="l" t="t" r="r" b="b"/>
            <a:pathLst>
              <a:path w="2103120" h="2194560">
                <a:moveTo>
                  <a:pt x="0" y="1097280"/>
                </a:moveTo>
                <a:lnTo>
                  <a:pt x="3485" y="1187278"/>
                </a:lnTo>
                <a:lnTo>
                  <a:pt x="13763" y="1275272"/>
                </a:lnTo>
                <a:lnTo>
                  <a:pt x="30561" y="1360979"/>
                </a:lnTo>
                <a:lnTo>
                  <a:pt x="53609" y="1444118"/>
                </a:lnTo>
                <a:lnTo>
                  <a:pt x="82637" y="1524404"/>
                </a:lnTo>
                <a:lnTo>
                  <a:pt x="117373" y="1601557"/>
                </a:lnTo>
                <a:lnTo>
                  <a:pt x="157548" y="1675294"/>
                </a:lnTo>
                <a:lnTo>
                  <a:pt x="202890" y="1745333"/>
                </a:lnTo>
                <a:lnTo>
                  <a:pt x="253130" y="1811391"/>
                </a:lnTo>
                <a:lnTo>
                  <a:pt x="307995" y="1873186"/>
                </a:lnTo>
                <a:lnTo>
                  <a:pt x="367216" y="1930436"/>
                </a:lnTo>
                <a:lnTo>
                  <a:pt x="430523" y="1982858"/>
                </a:lnTo>
                <a:lnTo>
                  <a:pt x="497644" y="2030170"/>
                </a:lnTo>
                <a:lnTo>
                  <a:pt x="568308" y="2072089"/>
                </a:lnTo>
                <a:lnTo>
                  <a:pt x="642246" y="2108334"/>
                </a:lnTo>
                <a:lnTo>
                  <a:pt x="719186" y="2138623"/>
                </a:lnTo>
                <a:lnTo>
                  <a:pt x="798858" y="2162672"/>
                </a:lnTo>
                <a:lnTo>
                  <a:pt x="880992" y="2180199"/>
                </a:lnTo>
                <a:lnTo>
                  <a:pt x="965316" y="2190922"/>
                </a:lnTo>
                <a:lnTo>
                  <a:pt x="1051560" y="2194560"/>
                </a:lnTo>
                <a:lnTo>
                  <a:pt x="1137805" y="2190922"/>
                </a:lnTo>
                <a:lnTo>
                  <a:pt x="1222131" y="2180199"/>
                </a:lnTo>
                <a:lnTo>
                  <a:pt x="1304265" y="2162672"/>
                </a:lnTo>
                <a:lnTo>
                  <a:pt x="1383938" y="2138623"/>
                </a:lnTo>
                <a:lnTo>
                  <a:pt x="1460879" y="2108334"/>
                </a:lnTo>
                <a:lnTo>
                  <a:pt x="1534816" y="2072089"/>
                </a:lnTo>
                <a:lnTo>
                  <a:pt x="1605481" y="2030170"/>
                </a:lnTo>
                <a:lnTo>
                  <a:pt x="1672602" y="1982858"/>
                </a:lnTo>
                <a:lnTo>
                  <a:pt x="1735908" y="1930436"/>
                </a:lnTo>
                <a:lnTo>
                  <a:pt x="1795129" y="1873186"/>
                </a:lnTo>
                <a:lnTo>
                  <a:pt x="1849994" y="1811391"/>
                </a:lnTo>
                <a:lnTo>
                  <a:pt x="1900232" y="1745333"/>
                </a:lnTo>
                <a:lnTo>
                  <a:pt x="1945574" y="1675294"/>
                </a:lnTo>
                <a:lnTo>
                  <a:pt x="1985748" y="1601557"/>
                </a:lnTo>
                <a:lnTo>
                  <a:pt x="2020484" y="1524404"/>
                </a:lnTo>
                <a:lnTo>
                  <a:pt x="2049511" y="1444118"/>
                </a:lnTo>
                <a:lnTo>
                  <a:pt x="2072559" y="1360979"/>
                </a:lnTo>
                <a:lnTo>
                  <a:pt x="2089357" y="1275272"/>
                </a:lnTo>
                <a:lnTo>
                  <a:pt x="2099634" y="1187278"/>
                </a:lnTo>
                <a:lnTo>
                  <a:pt x="2103120" y="1097280"/>
                </a:lnTo>
                <a:lnTo>
                  <a:pt x="2099634" y="1007281"/>
                </a:lnTo>
                <a:lnTo>
                  <a:pt x="2089357" y="919287"/>
                </a:lnTo>
                <a:lnTo>
                  <a:pt x="2072559" y="833580"/>
                </a:lnTo>
                <a:lnTo>
                  <a:pt x="2049511" y="750441"/>
                </a:lnTo>
                <a:lnTo>
                  <a:pt x="2020484" y="670155"/>
                </a:lnTo>
                <a:lnTo>
                  <a:pt x="1985748" y="593002"/>
                </a:lnTo>
                <a:lnTo>
                  <a:pt x="1945574" y="519265"/>
                </a:lnTo>
                <a:lnTo>
                  <a:pt x="1900232" y="449226"/>
                </a:lnTo>
                <a:lnTo>
                  <a:pt x="1849994" y="383168"/>
                </a:lnTo>
                <a:lnTo>
                  <a:pt x="1795129" y="321373"/>
                </a:lnTo>
                <a:lnTo>
                  <a:pt x="1735908" y="264123"/>
                </a:lnTo>
                <a:lnTo>
                  <a:pt x="1672602" y="211701"/>
                </a:lnTo>
                <a:lnTo>
                  <a:pt x="1605481" y="164389"/>
                </a:lnTo>
                <a:lnTo>
                  <a:pt x="1534816" y="122470"/>
                </a:lnTo>
                <a:lnTo>
                  <a:pt x="1460879" y="86225"/>
                </a:lnTo>
                <a:lnTo>
                  <a:pt x="1383938" y="55936"/>
                </a:lnTo>
                <a:lnTo>
                  <a:pt x="1304265" y="31887"/>
                </a:lnTo>
                <a:lnTo>
                  <a:pt x="1222131" y="14360"/>
                </a:lnTo>
                <a:lnTo>
                  <a:pt x="1137805" y="3637"/>
                </a:lnTo>
                <a:lnTo>
                  <a:pt x="1051560" y="0"/>
                </a:lnTo>
                <a:lnTo>
                  <a:pt x="965316" y="3637"/>
                </a:lnTo>
                <a:lnTo>
                  <a:pt x="880992" y="14360"/>
                </a:lnTo>
                <a:lnTo>
                  <a:pt x="798858" y="31887"/>
                </a:lnTo>
                <a:lnTo>
                  <a:pt x="719186" y="55936"/>
                </a:lnTo>
                <a:lnTo>
                  <a:pt x="642246" y="86225"/>
                </a:lnTo>
                <a:lnTo>
                  <a:pt x="568308" y="122470"/>
                </a:lnTo>
                <a:lnTo>
                  <a:pt x="497644" y="164389"/>
                </a:lnTo>
                <a:lnTo>
                  <a:pt x="430523" y="211701"/>
                </a:lnTo>
                <a:lnTo>
                  <a:pt x="367216" y="264123"/>
                </a:lnTo>
                <a:lnTo>
                  <a:pt x="307995" y="321373"/>
                </a:lnTo>
                <a:lnTo>
                  <a:pt x="253130" y="383168"/>
                </a:lnTo>
                <a:lnTo>
                  <a:pt x="202890" y="449226"/>
                </a:lnTo>
                <a:lnTo>
                  <a:pt x="157548" y="519265"/>
                </a:lnTo>
                <a:lnTo>
                  <a:pt x="117373" y="593002"/>
                </a:lnTo>
                <a:lnTo>
                  <a:pt x="82637" y="670155"/>
                </a:lnTo>
                <a:lnTo>
                  <a:pt x="53609" y="750441"/>
                </a:lnTo>
                <a:lnTo>
                  <a:pt x="30561" y="833580"/>
                </a:lnTo>
                <a:lnTo>
                  <a:pt x="13763" y="919287"/>
                </a:lnTo>
                <a:lnTo>
                  <a:pt x="3485" y="1007281"/>
                </a:lnTo>
                <a:lnTo>
                  <a:pt x="0" y="1097280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9688" y="1903476"/>
            <a:ext cx="2101596" cy="2194560"/>
          </a:xfrm>
          <a:custGeom>
            <a:avLst/>
            <a:gdLst/>
            <a:ahLst/>
            <a:cxnLst/>
            <a:rect l="l" t="t" r="r" b="b"/>
            <a:pathLst>
              <a:path w="2101596" h="2194560">
                <a:moveTo>
                  <a:pt x="0" y="1097279"/>
                </a:moveTo>
                <a:lnTo>
                  <a:pt x="3483" y="1187278"/>
                </a:lnTo>
                <a:lnTo>
                  <a:pt x="13751" y="1275272"/>
                </a:lnTo>
                <a:lnTo>
                  <a:pt x="30536" y="1360979"/>
                </a:lnTo>
                <a:lnTo>
                  <a:pt x="53565" y="1444118"/>
                </a:lnTo>
                <a:lnTo>
                  <a:pt x="82569" y="1524404"/>
                </a:lnTo>
                <a:lnTo>
                  <a:pt x="117278" y="1601557"/>
                </a:lnTo>
                <a:lnTo>
                  <a:pt x="157421" y="1675294"/>
                </a:lnTo>
                <a:lnTo>
                  <a:pt x="202728" y="1745333"/>
                </a:lnTo>
                <a:lnTo>
                  <a:pt x="252929" y="1811391"/>
                </a:lnTo>
                <a:lnTo>
                  <a:pt x="307752" y="1873186"/>
                </a:lnTo>
                <a:lnTo>
                  <a:pt x="366929" y="1930436"/>
                </a:lnTo>
                <a:lnTo>
                  <a:pt x="430188" y="1982858"/>
                </a:lnTo>
                <a:lnTo>
                  <a:pt x="497260" y="2030170"/>
                </a:lnTo>
                <a:lnTo>
                  <a:pt x="567873" y="2072089"/>
                </a:lnTo>
                <a:lnTo>
                  <a:pt x="641758" y="2108334"/>
                </a:lnTo>
                <a:lnTo>
                  <a:pt x="718645" y="2138623"/>
                </a:lnTo>
                <a:lnTo>
                  <a:pt x="798262" y="2162672"/>
                </a:lnTo>
                <a:lnTo>
                  <a:pt x="880340" y="2180199"/>
                </a:lnTo>
                <a:lnTo>
                  <a:pt x="964609" y="2190922"/>
                </a:lnTo>
                <a:lnTo>
                  <a:pt x="1050798" y="2194560"/>
                </a:lnTo>
                <a:lnTo>
                  <a:pt x="1136986" y="2190922"/>
                </a:lnTo>
                <a:lnTo>
                  <a:pt x="1221255" y="2180199"/>
                </a:lnTo>
                <a:lnTo>
                  <a:pt x="1303333" y="2162672"/>
                </a:lnTo>
                <a:lnTo>
                  <a:pt x="1382950" y="2138623"/>
                </a:lnTo>
                <a:lnTo>
                  <a:pt x="1459837" y="2108334"/>
                </a:lnTo>
                <a:lnTo>
                  <a:pt x="1533722" y="2072089"/>
                </a:lnTo>
                <a:lnTo>
                  <a:pt x="1604335" y="2030170"/>
                </a:lnTo>
                <a:lnTo>
                  <a:pt x="1671407" y="1982858"/>
                </a:lnTo>
                <a:lnTo>
                  <a:pt x="1734666" y="1930436"/>
                </a:lnTo>
                <a:lnTo>
                  <a:pt x="1793843" y="1873186"/>
                </a:lnTo>
                <a:lnTo>
                  <a:pt x="1848666" y="1811391"/>
                </a:lnTo>
                <a:lnTo>
                  <a:pt x="1898867" y="1745333"/>
                </a:lnTo>
                <a:lnTo>
                  <a:pt x="1944174" y="1675294"/>
                </a:lnTo>
                <a:lnTo>
                  <a:pt x="1984317" y="1601557"/>
                </a:lnTo>
                <a:lnTo>
                  <a:pt x="2019026" y="1524404"/>
                </a:lnTo>
                <a:lnTo>
                  <a:pt x="2048030" y="1444118"/>
                </a:lnTo>
                <a:lnTo>
                  <a:pt x="2071059" y="1360979"/>
                </a:lnTo>
                <a:lnTo>
                  <a:pt x="2087844" y="1275272"/>
                </a:lnTo>
                <a:lnTo>
                  <a:pt x="2098112" y="1187278"/>
                </a:lnTo>
                <a:lnTo>
                  <a:pt x="2101596" y="1097279"/>
                </a:lnTo>
                <a:lnTo>
                  <a:pt x="2098112" y="1007281"/>
                </a:lnTo>
                <a:lnTo>
                  <a:pt x="2087844" y="919287"/>
                </a:lnTo>
                <a:lnTo>
                  <a:pt x="2071059" y="833580"/>
                </a:lnTo>
                <a:lnTo>
                  <a:pt x="2048030" y="750441"/>
                </a:lnTo>
                <a:lnTo>
                  <a:pt x="2019026" y="670155"/>
                </a:lnTo>
                <a:lnTo>
                  <a:pt x="1984317" y="593002"/>
                </a:lnTo>
                <a:lnTo>
                  <a:pt x="1944174" y="519265"/>
                </a:lnTo>
                <a:lnTo>
                  <a:pt x="1898867" y="449226"/>
                </a:lnTo>
                <a:lnTo>
                  <a:pt x="1848666" y="383168"/>
                </a:lnTo>
                <a:lnTo>
                  <a:pt x="1793843" y="321373"/>
                </a:lnTo>
                <a:lnTo>
                  <a:pt x="1734666" y="264123"/>
                </a:lnTo>
                <a:lnTo>
                  <a:pt x="1671407" y="211701"/>
                </a:lnTo>
                <a:lnTo>
                  <a:pt x="1604335" y="164389"/>
                </a:lnTo>
                <a:lnTo>
                  <a:pt x="1533722" y="122470"/>
                </a:lnTo>
                <a:lnTo>
                  <a:pt x="1459837" y="86225"/>
                </a:lnTo>
                <a:lnTo>
                  <a:pt x="1382950" y="55936"/>
                </a:lnTo>
                <a:lnTo>
                  <a:pt x="1303333" y="31887"/>
                </a:lnTo>
                <a:lnTo>
                  <a:pt x="1221255" y="14360"/>
                </a:lnTo>
                <a:lnTo>
                  <a:pt x="1136986" y="3637"/>
                </a:lnTo>
                <a:lnTo>
                  <a:pt x="1050798" y="0"/>
                </a:lnTo>
                <a:lnTo>
                  <a:pt x="964609" y="3637"/>
                </a:lnTo>
                <a:lnTo>
                  <a:pt x="880340" y="14360"/>
                </a:lnTo>
                <a:lnTo>
                  <a:pt x="798262" y="31887"/>
                </a:lnTo>
                <a:lnTo>
                  <a:pt x="718645" y="55936"/>
                </a:lnTo>
                <a:lnTo>
                  <a:pt x="641758" y="86225"/>
                </a:lnTo>
                <a:lnTo>
                  <a:pt x="567873" y="122470"/>
                </a:lnTo>
                <a:lnTo>
                  <a:pt x="497260" y="164389"/>
                </a:lnTo>
                <a:lnTo>
                  <a:pt x="430188" y="211701"/>
                </a:lnTo>
                <a:lnTo>
                  <a:pt x="366929" y="264123"/>
                </a:lnTo>
                <a:lnTo>
                  <a:pt x="307752" y="321373"/>
                </a:lnTo>
                <a:lnTo>
                  <a:pt x="252929" y="383168"/>
                </a:lnTo>
                <a:lnTo>
                  <a:pt x="202728" y="449226"/>
                </a:lnTo>
                <a:lnTo>
                  <a:pt x="157421" y="519265"/>
                </a:lnTo>
                <a:lnTo>
                  <a:pt x="117278" y="593002"/>
                </a:lnTo>
                <a:lnTo>
                  <a:pt x="82569" y="670155"/>
                </a:lnTo>
                <a:lnTo>
                  <a:pt x="53565" y="750441"/>
                </a:lnTo>
                <a:lnTo>
                  <a:pt x="30536" y="833580"/>
                </a:lnTo>
                <a:lnTo>
                  <a:pt x="13751" y="919287"/>
                </a:lnTo>
                <a:lnTo>
                  <a:pt x="3483" y="1007281"/>
                </a:lnTo>
                <a:lnTo>
                  <a:pt x="0" y="1097279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18276" y="1828800"/>
            <a:ext cx="3200400" cy="2377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23788" y="1645920"/>
            <a:ext cx="3382898" cy="2651379"/>
          </a:xfrm>
          <a:custGeom>
            <a:avLst/>
            <a:gdLst/>
            <a:ahLst/>
            <a:cxnLst/>
            <a:rect l="l" t="t" r="r" b="b"/>
            <a:pathLst>
              <a:path w="3382898" h="2651379">
                <a:moveTo>
                  <a:pt x="0" y="0"/>
                </a:moveTo>
                <a:lnTo>
                  <a:pt x="0" y="2651379"/>
                </a:lnTo>
                <a:lnTo>
                  <a:pt x="1580895" y="2475356"/>
                </a:lnTo>
                <a:lnTo>
                  <a:pt x="1526286" y="2467863"/>
                </a:lnTo>
                <a:lnTo>
                  <a:pt x="1472184" y="2457322"/>
                </a:lnTo>
                <a:lnTo>
                  <a:pt x="1418589" y="2444115"/>
                </a:lnTo>
                <a:lnTo>
                  <a:pt x="1366012" y="2427859"/>
                </a:lnTo>
                <a:lnTo>
                  <a:pt x="1313814" y="2408809"/>
                </a:lnTo>
                <a:lnTo>
                  <a:pt x="1263141" y="2386837"/>
                </a:lnTo>
                <a:lnTo>
                  <a:pt x="1213485" y="2361946"/>
                </a:lnTo>
                <a:lnTo>
                  <a:pt x="1165225" y="2334641"/>
                </a:lnTo>
                <a:lnTo>
                  <a:pt x="1117981" y="2304415"/>
                </a:lnTo>
                <a:lnTo>
                  <a:pt x="1072641" y="2272029"/>
                </a:lnTo>
                <a:lnTo>
                  <a:pt x="1029081" y="2237104"/>
                </a:lnTo>
                <a:lnTo>
                  <a:pt x="987425" y="2199640"/>
                </a:lnTo>
                <a:lnTo>
                  <a:pt x="947419" y="2160397"/>
                </a:lnTo>
                <a:lnTo>
                  <a:pt x="909573" y="2118613"/>
                </a:lnTo>
                <a:lnTo>
                  <a:pt x="873633" y="2075179"/>
                </a:lnTo>
                <a:lnTo>
                  <a:pt x="840105" y="2029459"/>
                </a:lnTo>
                <a:lnTo>
                  <a:pt x="809243" y="1982215"/>
                </a:lnTo>
                <a:lnTo>
                  <a:pt x="780414" y="1933320"/>
                </a:lnTo>
                <a:lnTo>
                  <a:pt x="754126" y="1882520"/>
                </a:lnTo>
                <a:lnTo>
                  <a:pt x="730377" y="1830704"/>
                </a:lnTo>
                <a:lnTo>
                  <a:pt x="709167" y="1777745"/>
                </a:lnTo>
                <a:lnTo>
                  <a:pt x="690753" y="1723770"/>
                </a:lnTo>
                <a:lnTo>
                  <a:pt x="675259" y="1668779"/>
                </a:lnTo>
                <a:lnTo>
                  <a:pt x="662305" y="1612900"/>
                </a:lnTo>
                <a:lnTo>
                  <a:pt x="652271" y="1556384"/>
                </a:lnTo>
                <a:lnTo>
                  <a:pt x="645033" y="1499615"/>
                </a:lnTo>
                <a:lnTo>
                  <a:pt x="0" y="0"/>
                </a:lnTo>
                <a:close/>
              </a:path>
              <a:path w="3382898" h="2651379">
                <a:moveTo>
                  <a:pt x="645033" y="1499615"/>
                </a:moveTo>
                <a:lnTo>
                  <a:pt x="640714" y="1441957"/>
                </a:lnTo>
                <a:lnTo>
                  <a:pt x="639317" y="1384680"/>
                </a:lnTo>
                <a:lnTo>
                  <a:pt x="639698" y="1384680"/>
                </a:lnTo>
                <a:lnTo>
                  <a:pt x="641095" y="1327530"/>
                </a:lnTo>
                <a:lnTo>
                  <a:pt x="645413" y="1269872"/>
                </a:lnTo>
                <a:lnTo>
                  <a:pt x="652653" y="1212977"/>
                </a:lnTo>
                <a:lnTo>
                  <a:pt x="662686" y="1156462"/>
                </a:lnTo>
                <a:lnTo>
                  <a:pt x="675259" y="1100708"/>
                </a:lnTo>
                <a:lnTo>
                  <a:pt x="691134" y="1045717"/>
                </a:lnTo>
                <a:lnTo>
                  <a:pt x="709421" y="991615"/>
                </a:lnTo>
                <a:lnTo>
                  <a:pt x="730377" y="938783"/>
                </a:lnTo>
                <a:lnTo>
                  <a:pt x="754126" y="886967"/>
                </a:lnTo>
                <a:lnTo>
                  <a:pt x="780414" y="836167"/>
                </a:lnTo>
                <a:lnTo>
                  <a:pt x="809243" y="787272"/>
                </a:lnTo>
                <a:lnTo>
                  <a:pt x="840105" y="740028"/>
                </a:lnTo>
                <a:lnTo>
                  <a:pt x="873633" y="694308"/>
                </a:lnTo>
                <a:lnTo>
                  <a:pt x="909573" y="650747"/>
                </a:lnTo>
                <a:lnTo>
                  <a:pt x="947419" y="609091"/>
                </a:lnTo>
                <a:lnTo>
                  <a:pt x="987425" y="569467"/>
                </a:lnTo>
                <a:lnTo>
                  <a:pt x="1029081" y="532383"/>
                </a:lnTo>
                <a:lnTo>
                  <a:pt x="1072641" y="497458"/>
                </a:lnTo>
                <a:lnTo>
                  <a:pt x="1117981" y="464692"/>
                </a:lnTo>
                <a:lnTo>
                  <a:pt x="1165225" y="434847"/>
                </a:lnTo>
                <a:lnTo>
                  <a:pt x="1213485" y="407415"/>
                </a:lnTo>
                <a:lnTo>
                  <a:pt x="1263141" y="382650"/>
                </a:lnTo>
                <a:lnTo>
                  <a:pt x="1313814" y="360679"/>
                </a:lnTo>
                <a:lnTo>
                  <a:pt x="1365631" y="341249"/>
                </a:lnTo>
                <a:lnTo>
                  <a:pt x="1418589" y="324992"/>
                </a:lnTo>
                <a:lnTo>
                  <a:pt x="1472184" y="311657"/>
                </a:lnTo>
                <a:lnTo>
                  <a:pt x="1526286" y="301243"/>
                </a:lnTo>
                <a:lnTo>
                  <a:pt x="1580895" y="293750"/>
                </a:lnTo>
                <a:lnTo>
                  <a:pt x="1635633" y="289051"/>
                </a:lnTo>
                <a:lnTo>
                  <a:pt x="1690751" y="287654"/>
                </a:lnTo>
                <a:lnTo>
                  <a:pt x="1745868" y="289051"/>
                </a:lnTo>
                <a:lnTo>
                  <a:pt x="1800479" y="293750"/>
                </a:lnTo>
                <a:lnTo>
                  <a:pt x="1855215" y="301243"/>
                </a:lnTo>
                <a:lnTo>
                  <a:pt x="1909190" y="311657"/>
                </a:lnTo>
                <a:lnTo>
                  <a:pt x="1962912" y="324992"/>
                </a:lnTo>
                <a:lnTo>
                  <a:pt x="2015363" y="341249"/>
                </a:lnTo>
                <a:lnTo>
                  <a:pt x="2067306" y="360299"/>
                </a:lnTo>
                <a:lnTo>
                  <a:pt x="2117979" y="382269"/>
                </a:lnTo>
                <a:lnTo>
                  <a:pt x="2167636" y="407162"/>
                </a:lnTo>
                <a:lnTo>
                  <a:pt x="2216277" y="434466"/>
                </a:lnTo>
                <a:lnTo>
                  <a:pt x="2263140" y="464692"/>
                </a:lnTo>
                <a:lnTo>
                  <a:pt x="2308479" y="497077"/>
                </a:lnTo>
                <a:lnTo>
                  <a:pt x="2352040" y="532002"/>
                </a:lnTo>
                <a:lnTo>
                  <a:pt x="2394077" y="569467"/>
                </a:lnTo>
                <a:lnTo>
                  <a:pt x="2433701" y="608710"/>
                </a:lnTo>
                <a:lnTo>
                  <a:pt x="2471801" y="650493"/>
                </a:lnTo>
                <a:lnTo>
                  <a:pt x="2507488" y="693927"/>
                </a:lnTo>
                <a:lnTo>
                  <a:pt x="2541016" y="739647"/>
                </a:lnTo>
                <a:lnTo>
                  <a:pt x="2572258" y="786891"/>
                </a:lnTo>
                <a:lnTo>
                  <a:pt x="2600706" y="835787"/>
                </a:lnTo>
                <a:lnTo>
                  <a:pt x="2626994" y="886587"/>
                </a:lnTo>
                <a:lnTo>
                  <a:pt x="2650743" y="938402"/>
                </a:lnTo>
                <a:lnTo>
                  <a:pt x="2671953" y="991362"/>
                </a:lnTo>
                <a:lnTo>
                  <a:pt x="2690367" y="1045337"/>
                </a:lnTo>
                <a:lnTo>
                  <a:pt x="2705862" y="1100327"/>
                </a:lnTo>
                <a:lnTo>
                  <a:pt x="2718816" y="1156207"/>
                </a:lnTo>
                <a:lnTo>
                  <a:pt x="2728848" y="1212722"/>
                </a:lnTo>
                <a:lnTo>
                  <a:pt x="2736088" y="1269491"/>
                </a:lnTo>
                <a:lnTo>
                  <a:pt x="2740406" y="1327150"/>
                </a:lnTo>
                <a:lnTo>
                  <a:pt x="2741803" y="1384427"/>
                </a:lnTo>
                <a:lnTo>
                  <a:pt x="2740406" y="1441577"/>
                </a:lnTo>
                <a:lnTo>
                  <a:pt x="2736088" y="1499234"/>
                </a:lnTo>
                <a:lnTo>
                  <a:pt x="2728848" y="1556130"/>
                </a:lnTo>
                <a:lnTo>
                  <a:pt x="2718816" y="1612518"/>
                </a:lnTo>
                <a:lnTo>
                  <a:pt x="2706242" y="1668399"/>
                </a:lnTo>
                <a:lnTo>
                  <a:pt x="2690367" y="1723389"/>
                </a:lnTo>
                <a:lnTo>
                  <a:pt x="2671953" y="1777491"/>
                </a:lnTo>
                <a:lnTo>
                  <a:pt x="2651125" y="1830324"/>
                </a:lnTo>
                <a:lnTo>
                  <a:pt x="2627376" y="1882139"/>
                </a:lnTo>
                <a:lnTo>
                  <a:pt x="2601087" y="1932939"/>
                </a:lnTo>
                <a:lnTo>
                  <a:pt x="2572258" y="1981834"/>
                </a:lnTo>
                <a:lnTo>
                  <a:pt x="2541016" y="2029078"/>
                </a:lnTo>
                <a:lnTo>
                  <a:pt x="2507488" y="2074798"/>
                </a:lnTo>
                <a:lnTo>
                  <a:pt x="2471801" y="2118360"/>
                </a:lnTo>
                <a:lnTo>
                  <a:pt x="2434082" y="2160016"/>
                </a:lnTo>
                <a:lnTo>
                  <a:pt x="2394077" y="2199640"/>
                </a:lnTo>
                <a:lnTo>
                  <a:pt x="2352293" y="2236723"/>
                </a:lnTo>
                <a:lnTo>
                  <a:pt x="2308479" y="2272029"/>
                </a:lnTo>
                <a:lnTo>
                  <a:pt x="2263140" y="2304415"/>
                </a:lnTo>
                <a:lnTo>
                  <a:pt x="2216277" y="2334260"/>
                </a:lnTo>
                <a:lnTo>
                  <a:pt x="2168016" y="2361691"/>
                </a:lnTo>
                <a:lnTo>
                  <a:pt x="2118360" y="2386456"/>
                </a:lnTo>
                <a:lnTo>
                  <a:pt x="2067560" y="2408428"/>
                </a:lnTo>
                <a:lnTo>
                  <a:pt x="2015363" y="2427859"/>
                </a:lnTo>
                <a:lnTo>
                  <a:pt x="1962912" y="2444115"/>
                </a:lnTo>
                <a:lnTo>
                  <a:pt x="1909190" y="2457322"/>
                </a:lnTo>
                <a:lnTo>
                  <a:pt x="1855215" y="2467863"/>
                </a:lnTo>
                <a:lnTo>
                  <a:pt x="1800479" y="2475356"/>
                </a:lnTo>
                <a:lnTo>
                  <a:pt x="1745868" y="2480055"/>
                </a:lnTo>
                <a:lnTo>
                  <a:pt x="1690751" y="2481453"/>
                </a:lnTo>
                <a:lnTo>
                  <a:pt x="1635633" y="2480055"/>
                </a:lnTo>
                <a:lnTo>
                  <a:pt x="1580895" y="2475356"/>
                </a:lnTo>
                <a:lnTo>
                  <a:pt x="0" y="2651379"/>
                </a:lnTo>
                <a:lnTo>
                  <a:pt x="3382898" y="2651379"/>
                </a:lnTo>
                <a:lnTo>
                  <a:pt x="3382898" y="0"/>
                </a:lnTo>
                <a:lnTo>
                  <a:pt x="0" y="0"/>
                </a:lnTo>
                <a:lnTo>
                  <a:pt x="645033" y="1499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880" y="6089904"/>
            <a:ext cx="621792" cy="621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3666" y="1848612"/>
            <a:ext cx="2200657" cy="23576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75687" y="1848612"/>
            <a:ext cx="2260091" cy="24109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42696" y="454728"/>
            <a:ext cx="3256992" cy="307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lang="es-CO" sz="2200" b="1" spc="0" dirty="0" err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lang="es-CO" sz="2200" b="1" spc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200" b="1" spc="0" dirty="0" err="1">
                <a:solidFill>
                  <a:srgbClr val="FFFFFF"/>
                </a:solidFill>
                <a:latin typeface="Arial"/>
                <a:cs typeface="Arial"/>
              </a:rPr>
              <a:t>presentation</a:t>
            </a:r>
            <a:endParaRPr lang="es-CO"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7084" y="4259268"/>
            <a:ext cx="889407" cy="639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sz="2200" spc="-234" dirty="0">
                <a:solidFill>
                  <a:srgbClr val="001E33"/>
                </a:solidFill>
                <a:latin typeface="Arial"/>
                <a:cs typeface="Arial"/>
              </a:rPr>
              <a:t>T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omás</a:t>
            </a:r>
            <a:endParaRPr sz="2200">
              <a:latin typeface="Arial"/>
              <a:cs typeface="Arial"/>
            </a:endParaRPr>
          </a:p>
          <a:p>
            <a:pPr marL="75184" marR="41833">
              <a:lnSpc>
                <a:spcPct val="95825"/>
              </a:lnSpc>
            </a:pP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Marin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1589" y="4259268"/>
            <a:ext cx="672708" cy="639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J</a:t>
            </a:r>
            <a:r>
              <a:rPr sz="2200" spc="4" dirty="0">
                <a:solidFill>
                  <a:srgbClr val="001E33"/>
                </a:solidFill>
                <a:latin typeface="Arial"/>
                <a:cs typeface="Arial"/>
              </a:rPr>
              <a:t>u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  <a:p>
            <a:pPr marL="29463" marR="15029">
              <a:lnSpc>
                <a:spcPct val="95825"/>
              </a:lnSpc>
            </a:pPr>
            <a:r>
              <a:rPr sz="2200" spc="-119" dirty="0">
                <a:solidFill>
                  <a:srgbClr val="001E33"/>
                </a:solidFill>
                <a:latin typeface="Arial"/>
                <a:cs typeface="Arial"/>
              </a:rPr>
              <a:t>V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era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0514" y="4259268"/>
            <a:ext cx="919527" cy="639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939" marR="14880">
              <a:lnSpc>
                <a:spcPts val="2345"/>
              </a:lnSpc>
              <a:spcBef>
                <a:spcPts val="117"/>
              </a:spcBef>
            </a:pP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Migu</a:t>
            </a:r>
            <a:r>
              <a:rPr sz="2200" spc="4" dirty="0">
                <a:solidFill>
                  <a:srgbClr val="001E33"/>
                </a:solidFill>
                <a:latin typeface="Arial"/>
                <a:cs typeface="Arial"/>
              </a:rPr>
              <a:t>e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l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Correa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6485" y="4259268"/>
            <a:ext cx="1101086" cy="639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345"/>
              </a:lnSpc>
              <a:spcBef>
                <a:spcPts val="117"/>
              </a:spcBef>
            </a:pP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Mauri</a:t>
            </a:r>
            <a:r>
              <a:rPr sz="2200" spc="9" dirty="0">
                <a:solidFill>
                  <a:srgbClr val="001E33"/>
                </a:solidFill>
                <a:latin typeface="Arial"/>
                <a:cs typeface="Arial"/>
              </a:rPr>
              <a:t>c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io</a:t>
            </a:r>
            <a:endParaRPr sz="2200">
              <a:latin typeface="Arial"/>
              <a:cs typeface="Arial"/>
            </a:endParaRPr>
          </a:p>
          <a:p>
            <a:pPr marL="235115" marR="255455" algn="ctr">
              <a:lnSpc>
                <a:spcPct val="95825"/>
              </a:lnSpc>
            </a:pPr>
            <a:r>
              <a:rPr sz="2200" spc="-234" dirty="0">
                <a:solidFill>
                  <a:srgbClr val="001E33"/>
                </a:solidFill>
                <a:latin typeface="Arial"/>
                <a:cs typeface="Arial"/>
              </a:rPr>
              <a:t>T</a:t>
            </a:r>
            <a:r>
              <a:rPr sz="2200" spc="0" dirty="0">
                <a:solidFill>
                  <a:srgbClr val="001E33"/>
                </a:solidFill>
                <a:latin typeface="Arial"/>
                <a:cs typeface="Arial"/>
              </a:rPr>
              <a:t>oro</a:t>
            </a:r>
            <a:endParaRPr sz="2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5992" y="6235929"/>
            <a:ext cx="7802444" cy="304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0"/>
              </a:lnSpc>
              <a:spcBef>
                <a:spcPts val="117"/>
              </a:spcBef>
            </a:pPr>
            <a:r>
              <a:rPr sz="2200" spc="0" dirty="0">
                <a:latin typeface="Arial"/>
                <a:cs typeface="Arial"/>
              </a:rPr>
              <a:t>http</a:t>
            </a:r>
            <a:r>
              <a:rPr sz="2200" spc="4" dirty="0">
                <a:latin typeface="Arial"/>
                <a:cs typeface="Arial"/>
              </a:rPr>
              <a:t>s</a:t>
            </a:r>
            <a:r>
              <a:rPr sz="2200" spc="0" dirty="0">
                <a:latin typeface="Arial"/>
                <a:cs typeface="Arial"/>
              </a:rPr>
              <a:t>://g</a:t>
            </a:r>
            <a:r>
              <a:rPr sz="2200" spc="4" dirty="0">
                <a:latin typeface="Arial"/>
                <a:cs typeface="Arial"/>
              </a:rPr>
              <a:t>i</a:t>
            </a:r>
            <a:r>
              <a:rPr sz="2200" spc="0" dirty="0">
                <a:latin typeface="Arial"/>
                <a:cs typeface="Arial"/>
              </a:rPr>
              <a:t>thub</a:t>
            </a:r>
            <a:r>
              <a:rPr sz="2200" spc="4" dirty="0">
                <a:latin typeface="Arial"/>
                <a:cs typeface="Arial"/>
              </a:rPr>
              <a:t>.</a:t>
            </a:r>
            <a:r>
              <a:rPr sz="2200" spc="0" dirty="0">
                <a:latin typeface="Arial"/>
                <a:cs typeface="Arial"/>
              </a:rPr>
              <a:t>com/</a:t>
            </a:r>
            <a:r>
              <a:rPr sz="2200" spc="-125" dirty="0">
                <a:latin typeface="Arial"/>
                <a:cs typeface="Arial"/>
              </a:rPr>
              <a:t>V</a:t>
            </a:r>
            <a:r>
              <a:rPr sz="2200" spc="0" dirty="0">
                <a:latin typeface="Arial"/>
                <a:cs typeface="Arial"/>
              </a:rPr>
              <a:t>era3</a:t>
            </a:r>
            <a:r>
              <a:rPr sz="2200" spc="4" dirty="0">
                <a:latin typeface="Arial"/>
                <a:cs typeface="Arial"/>
              </a:rPr>
              <a:t>5</a:t>
            </a:r>
            <a:r>
              <a:rPr sz="2200" spc="0" dirty="0">
                <a:latin typeface="Arial"/>
                <a:cs typeface="Arial"/>
              </a:rPr>
              <a:t>88/ST02</a:t>
            </a:r>
            <a:r>
              <a:rPr sz="2200" spc="4" dirty="0">
                <a:latin typeface="Arial"/>
                <a:cs typeface="Arial"/>
              </a:rPr>
              <a:t>4</a:t>
            </a:r>
            <a:r>
              <a:rPr sz="2200" spc="19" dirty="0">
                <a:latin typeface="Arial"/>
                <a:cs typeface="Arial"/>
              </a:rPr>
              <a:t>5</a:t>
            </a:r>
            <a:r>
              <a:rPr sz="2200" spc="0" dirty="0">
                <a:latin typeface="Arial"/>
                <a:cs typeface="Arial"/>
              </a:rPr>
              <a:t>-001/</a:t>
            </a:r>
            <a:r>
              <a:rPr sz="2200" spc="4" dirty="0">
                <a:latin typeface="Arial"/>
                <a:cs typeface="Arial"/>
              </a:rPr>
              <a:t>t</a:t>
            </a:r>
            <a:r>
              <a:rPr sz="2200" spc="0" dirty="0">
                <a:latin typeface="Arial"/>
                <a:cs typeface="Arial"/>
              </a:rPr>
              <a:t>ree/master</a:t>
            </a:r>
            <a:r>
              <a:rPr sz="2200" spc="4" dirty="0">
                <a:latin typeface="Arial"/>
                <a:cs typeface="Arial"/>
              </a:rPr>
              <a:t>/</a:t>
            </a:r>
            <a:r>
              <a:rPr sz="2200" spc="0" dirty="0">
                <a:latin typeface="Arial"/>
                <a:cs typeface="Arial"/>
              </a:rPr>
              <a:t>proyecto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9D6C7201-1496-4E48-84B0-01A036E14908}"/>
              </a:ext>
            </a:extLst>
          </p:cNvPr>
          <p:cNvSpPr/>
          <p:nvPr/>
        </p:nvSpPr>
        <p:spPr>
          <a:xfrm>
            <a:off x="2978532" y="1613388"/>
            <a:ext cx="3382898" cy="2651379"/>
          </a:xfrm>
          <a:custGeom>
            <a:avLst/>
            <a:gdLst/>
            <a:ahLst/>
            <a:cxnLst/>
            <a:rect l="l" t="t" r="r" b="b"/>
            <a:pathLst>
              <a:path w="3382898" h="2651379">
                <a:moveTo>
                  <a:pt x="0" y="0"/>
                </a:moveTo>
                <a:lnTo>
                  <a:pt x="0" y="2651379"/>
                </a:lnTo>
                <a:lnTo>
                  <a:pt x="1580895" y="2475356"/>
                </a:lnTo>
                <a:lnTo>
                  <a:pt x="1526286" y="2467863"/>
                </a:lnTo>
                <a:lnTo>
                  <a:pt x="1472184" y="2457322"/>
                </a:lnTo>
                <a:lnTo>
                  <a:pt x="1418589" y="2444115"/>
                </a:lnTo>
                <a:lnTo>
                  <a:pt x="1366012" y="2427859"/>
                </a:lnTo>
                <a:lnTo>
                  <a:pt x="1313814" y="2408809"/>
                </a:lnTo>
                <a:lnTo>
                  <a:pt x="1263141" y="2386837"/>
                </a:lnTo>
                <a:lnTo>
                  <a:pt x="1213485" y="2361946"/>
                </a:lnTo>
                <a:lnTo>
                  <a:pt x="1165225" y="2334641"/>
                </a:lnTo>
                <a:lnTo>
                  <a:pt x="1117981" y="2304415"/>
                </a:lnTo>
                <a:lnTo>
                  <a:pt x="1072641" y="2272029"/>
                </a:lnTo>
                <a:lnTo>
                  <a:pt x="1029081" y="2237104"/>
                </a:lnTo>
                <a:lnTo>
                  <a:pt x="987425" y="2199640"/>
                </a:lnTo>
                <a:lnTo>
                  <a:pt x="947419" y="2160397"/>
                </a:lnTo>
                <a:lnTo>
                  <a:pt x="909573" y="2118613"/>
                </a:lnTo>
                <a:lnTo>
                  <a:pt x="873633" y="2075179"/>
                </a:lnTo>
                <a:lnTo>
                  <a:pt x="840105" y="2029459"/>
                </a:lnTo>
                <a:lnTo>
                  <a:pt x="809243" y="1982215"/>
                </a:lnTo>
                <a:lnTo>
                  <a:pt x="780414" y="1933320"/>
                </a:lnTo>
                <a:lnTo>
                  <a:pt x="754126" y="1882520"/>
                </a:lnTo>
                <a:lnTo>
                  <a:pt x="730377" y="1830704"/>
                </a:lnTo>
                <a:lnTo>
                  <a:pt x="709167" y="1777745"/>
                </a:lnTo>
                <a:lnTo>
                  <a:pt x="690753" y="1723770"/>
                </a:lnTo>
                <a:lnTo>
                  <a:pt x="675259" y="1668779"/>
                </a:lnTo>
                <a:lnTo>
                  <a:pt x="662305" y="1612900"/>
                </a:lnTo>
                <a:lnTo>
                  <a:pt x="652271" y="1556384"/>
                </a:lnTo>
                <a:lnTo>
                  <a:pt x="645033" y="1499615"/>
                </a:lnTo>
                <a:lnTo>
                  <a:pt x="0" y="0"/>
                </a:lnTo>
                <a:close/>
              </a:path>
              <a:path w="3382898" h="2651379">
                <a:moveTo>
                  <a:pt x="645033" y="1499615"/>
                </a:moveTo>
                <a:lnTo>
                  <a:pt x="640714" y="1441957"/>
                </a:lnTo>
                <a:lnTo>
                  <a:pt x="639317" y="1384680"/>
                </a:lnTo>
                <a:lnTo>
                  <a:pt x="639698" y="1384680"/>
                </a:lnTo>
                <a:lnTo>
                  <a:pt x="641095" y="1327530"/>
                </a:lnTo>
                <a:lnTo>
                  <a:pt x="645413" y="1269872"/>
                </a:lnTo>
                <a:lnTo>
                  <a:pt x="652653" y="1212977"/>
                </a:lnTo>
                <a:lnTo>
                  <a:pt x="662686" y="1156462"/>
                </a:lnTo>
                <a:lnTo>
                  <a:pt x="675259" y="1100708"/>
                </a:lnTo>
                <a:lnTo>
                  <a:pt x="691134" y="1045717"/>
                </a:lnTo>
                <a:lnTo>
                  <a:pt x="709421" y="991615"/>
                </a:lnTo>
                <a:lnTo>
                  <a:pt x="730377" y="938783"/>
                </a:lnTo>
                <a:lnTo>
                  <a:pt x="754126" y="886967"/>
                </a:lnTo>
                <a:lnTo>
                  <a:pt x="780414" y="836167"/>
                </a:lnTo>
                <a:lnTo>
                  <a:pt x="809243" y="787272"/>
                </a:lnTo>
                <a:lnTo>
                  <a:pt x="840105" y="740028"/>
                </a:lnTo>
                <a:lnTo>
                  <a:pt x="873633" y="694308"/>
                </a:lnTo>
                <a:lnTo>
                  <a:pt x="909573" y="650747"/>
                </a:lnTo>
                <a:lnTo>
                  <a:pt x="947419" y="609091"/>
                </a:lnTo>
                <a:lnTo>
                  <a:pt x="987425" y="569467"/>
                </a:lnTo>
                <a:lnTo>
                  <a:pt x="1029081" y="532383"/>
                </a:lnTo>
                <a:lnTo>
                  <a:pt x="1072641" y="497458"/>
                </a:lnTo>
                <a:lnTo>
                  <a:pt x="1117981" y="464692"/>
                </a:lnTo>
                <a:lnTo>
                  <a:pt x="1165225" y="434847"/>
                </a:lnTo>
                <a:lnTo>
                  <a:pt x="1213485" y="407415"/>
                </a:lnTo>
                <a:lnTo>
                  <a:pt x="1263141" y="382650"/>
                </a:lnTo>
                <a:lnTo>
                  <a:pt x="1313814" y="360679"/>
                </a:lnTo>
                <a:lnTo>
                  <a:pt x="1365631" y="341249"/>
                </a:lnTo>
                <a:lnTo>
                  <a:pt x="1418589" y="324992"/>
                </a:lnTo>
                <a:lnTo>
                  <a:pt x="1472184" y="311657"/>
                </a:lnTo>
                <a:lnTo>
                  <a:pt x="1526286" y="301243"/>
                </a:lnTo>
                <a:lnTo>
                  <a:pt x="1580895" y="293750"/>
                </a:lnTo>
                <a:lnTo>
                  <a:pt x="1635633" y="289051"/>
                </a:lnTo>
                <a:lnTo>
                  <a:pt x="1690751" y="287654"/>
                </a:lnTo>
                <a:lnTo>
                  <a:pt x="1745868" y="289051"/>
                </a:lnTo>
                <a:lnTo>
                  <a:pt x="1800479" y="293750"/>
                </a:lnTo>
                <a:lnTo>
                  <a:pt x="1855215" y="301243"/>
                </a:lnTo>
                <a:lnTo>
                  <a:pt x="1909190" y="311657"/>
                </a:lnTo>
                <a:lnTo>
                  <a:pt x="1962912" y="324992"/>
                </a:lnTo>
                <a:lnTo>
                  <a:pt x="2015363" y="341249"/>
                </a:lnTo>
                <a:lnTo>
                  <a:pt x="2067306" y="360299"/>
                </a:lnTo>
                <a:lnTo>
                  <a:pt x="2117979" y="382269"/>
                </a:lnTo>
                <a:lnTo>
                  <a:pt x="2167636" y="407162"/>
                </a:lnTo>
                <a:lnTo>
                  <a:pt x="2216277" y="434466"/>
                </a:lnTo>
                <a:lnTo>
                  <a:pt x="2263140" y="464692"/>
                </a:lnTo>
                <a:lnTo>
                  <a:pt x="2308479" y="497077"/>
                </a:lnTo>
                <a:lnTo>
                  <a:pt x="2352040" y="532002"/>
                </a:lnTo>
                <a:lnTo>
                  <a:pt x="2394077" y="569467"/>
                </a:lnTo>
                <a:lnTo>
                  <a:pt x="2433701" y="608710"/>
                </a:lnTo>
                <a:lnTo>
                  <a:pt x="2471801" y="650493"/>
                </a:lnTo>
                <a:lnTo>
                  <a:pt x="2507488" y="693927"/>
                </a:lnTo>
                <a:lnTo>
                  <a:pt x="2541016" y="739647"/>
                </a:lnTo>
                <a:lnTo>
                  <a:pt x="2572258" y="786891"/>
                </a:lnTo>
                <a:lnTo>
                  <a:pt x="2600706" y="835787"/>
                </a:lnTo>
                <a:lnTo>
                  <a:pt x="2626994" y="886587"/>
                </a:lnTo>
                <a:lnTo>
                  <a:pt x="2650743" y="938402"/>
                </a:lnTo>
                <a:lnTo>
                  <a:pt x="2671953" y="991362"/>
                </a:lnTo>
                <a:lnTo>
                  <a:pt x="2690367" y="1045337"/>
                </a:lnTo>
                <a:lnTo>
                  <a:pt x="2705862" y="1100327"/>
                </a:lnTo>
                <a:lnTo>
                  <a:pt x="2718816" y="1156207"/>
                </a:lnTo>
                <a:lnTo>
                  <a:pt x="2728848" y="1212722"/>
                </a:lnTo>
                <a:lnTo>
                  <a:pt x="2736088" y="1269491"/>
                </a:lnTo>
                <a:lnTo>
                  <a:pt x="2740406" y="1327150"/>
                </a:lnTo>
                <a:lnTo>
                  <a:pt x="2741803" y="1384427"/>
                </a:lnTo>
                <a:lnTo>
                  <a:pt x="2740406" y="1441577"/>
                </a:lnTo>
                <a:lnTo>
                  <a:pt x="2736088" y="1499234"/>
                </a:lnTo>
                <a:lnTo>
                  <a:pt x="2728848" y="1556130"/>
                </a:lnTo>
                <a:lnTo>
                  <a:pt x="2718816" y="1612518"/>
                </a:lnTo>
                <a:lnTo>
                  <a:pt x="2706242" y="1668399"/>
                </a:lnTo>
                <a:lnTo>
                  <a:pt x="2690367" y="1723389"/>
                </a:lnTo>
                <a:lnTo>
                  <a:pt x="2671953" y="1777491"/>
                </a:lnTo>
                <a:lnTo>
                  <a:pt x="2651125" y="1830324"/>
                </a:lnTo>
                <a:lnTo>
                  <a:pt x="2627376" y="1882139"/>
                </a:lnTo>
                <a:lnTo>
                  <a:pt x="2601087" y="1932939"/>
                </a:lnTo>
                <a:lnTo>
                  <a:pt x="2572258" y="1981834"/>
                </a:lnTo>
                <a:lnTo>
                  <a:pt x="2541016" y="2029078"/>
                </a:lnTo>
                <a:lnTo>
                  <a:pt x="2507488" y="2074798"/>
                </a:lnTo>
                <a:lnTo>
                  <a:pt x="2471801" y="2118360"/>
                </a:lnTo>
                <a:lnTo>
                  <a:pt x="2434082" y="2160016"/>
                </a:lnTo>
                <a:lnTo>
                  <a:pt x="2394077" y="2199640"/>
                </a:lnTo>
                <a:lnTo>
                  <a:pt x="2352293" y="2236723"/>
                </a:lnTo>
                <a:lnTo>
                  <a:pt x="2308479" y="2272029"/>
                </a:lnTo>
                <a:lnTo>
                  <a:pt x="2263140" y="2304415"/>
                </a:lnTo>
                <a:lnTo>
                  <a:pt x="2216277" y="2334260"/>
                </a:lnTo>
                <a:lnTo>
                  <a:pt x="2168016" y="2361691"/>
                </a:lnTo>
                <a:lnTo>
                  <a:pt x="2118360" y="2386456"/>
                </a:lnTo>
                <a:lnTo>
                  <a:pt x="2067560" y="2408428"/>
                </a:lnTo>
                <a:lnTo>
                  <a:pt x="2015363" y="2427859"/>
                </a:lnTo>
                <a:lnTo>
                  <a:pt x="1962912" y="2444115"/>
                </a:lnTo>
                <a:lnTo>
                  <a:pt x="1909190" y="2457322"/>
                </a:lnTo>
                <a:lnTo>
                  <a:pt x="1855215" y="2467863"/>
                </a:lnTo>
                <a:lnTo>
                  <a:pt x="1800479" y="2475356"/>
                </a:lnTo>
                <a:lnTo>
                  <a:pt x="1745868" y="2480055"/>
                </a:lnTo>
                <a:lnTo>
                  <a:pt x="1690751" y="2481453"/>
                </a:lnTo>
                <a:lnTo>
                  <a:pt x="1635633" y="2480055"/>
                </a:lnTo>
                <a:lnTo>
                  <a:pt x="1580895" y="2475356"/>
                </a:lnTo>
                <a:lnTo>
                  <a:pt x="0" y="2651379"/>
                </a:lnTo>
                <a:lnTo>
                  <a:pt x="3382898" y="2651379"/>
                </a:lnTo>
                <a:lnTo>
                  <a:pt x="3382898" y="0"/>
                </a:lnTo>
                <a:lnTo>
                  <a:pt x="0" y="0"/>
                </a:lnTo>
                <a:lnTo>
                  <a:pt x="645033" y="1499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C6C7BBB1-3A2B-43FA-9ECD-5A2F2C2A6E76}"/>
              </a:ext>
            </a:extLst>
          </p:cNvPr>
          <p:cNvSpPr/>
          <p:nvPr/>
        </p:nvSpPr>
        <p:spPr>
          <a:xfrm>
            <a:off x="46483" y="1645919"/>
            <a:ext cx="3382898" cy="2651379"/>
          </a:xfrm>
          <a:custGeom>
            <a:avLst/>
            <a:gdLst/>
            <a:ahLst/>
            <a:cxnLst/>
            <a:rect l="l" t="t" r="r" b="b"/>
            <a:pathLst>
              <a:path w="3382898" h="2651379">
                <a:moveTo>
                  <a:pt x="0" y="0"/>
                </a:moveTo>
                <a:lnTo>
                  <a:pt x="0" y="2651379"/>
                </a:lnTo>
                <a:lnTo>
                  <a:pt x="1580895" y="2475356"/>
                </a:lnTo>
                <a:lnTo>
                  <a:pt x="1526286" y="2467863"/>
                </a:lnTo>
                <a:lnTo>
                  <a:pt x="1472184" y="2457322"/>
                </a:lnTo>
                <a:lnTo>
                  <a:pt x="1418589" y="2444115"/>
                </a:lnTo>
                <a:lnTo>
                  <a:pt x="1366012" y="2427859"/>
                </a:lnTo>
                <a:lnTo>
                  <a:pt x="1313814" y="2408809"/>
                </a:lnTo>
                <a:lnTo>
                  <a:pt x="1263141" y="2386837"/>
                </a:lnTo>
                <a:lnTo>
                  <a:pt x="1213485" y="2361946"/>
                </a:lnTo>
                <a:lnTo>
                  <a:pt x="1165225" y="2334641"/>
                </a:lnTo>
                <a:lnTo>
                  <a:pt x="1117981" y="2304415"/>
                </a:lnTo>
                <a:lnTo>
                  <a:pt x="1072641" y="2272029"/>
                </a:lnTo>
                <a:lnTo>
                  <a:pt x="1029081" y="2237104"/>
                </a:lnTo>
                <a:lnTo>
                  <a:pt x="987425" y="2199640"/>
                </a:lnTo>
                <a:lnTo>
                  <a:pt x="947419" y="2160397"/>
                </a:lnTo>
                <a:lnTo>
                  <a:pt x="909573" y="2118613"/>
                </a:lnTo>
                <a:lnTo>
                  <a:pt x="873633" y="2075179"/>
                </a:lnTo>
                <a:lnTo>
                  <a:pt x="840105" y="2029459"/>
                </a:lnTo>
                <a:lnTo>
                  <a:pt x="809243" y="1982215"/>
                </a:lnTo>
                <a:lnTo>
                  <a:pt x="780414" y="1933320"/>
                </a:lnTo>
                <a:lnTo>
                  <a:pt x="754126" y="1882520"/>
                </a:lnTo>
                <a:lnTo>
                  <a:pt x="730377" y="1830704"/>
                </a:lnTo>
                <a:lnTo>
                  <a:pt x="709167" y="1777745"/>
                </a:lnTo>
                <a:lnTo>
                  <a:pt x="690753" y="1723770"/>
                </a:lnTo>
                <a:lnTo>
                  <a:pt x="675259" y="1668779"/>
                </a:lnTo>
                <a:lnTo>
                  <a:pt x="662305" y="1612900"/>
                </a:lnTo>
                <a:lnTo>
                  <a:pt x="652271" y="1556384"/>
                </a:lnTo>
                <a:lnTo>
                  <a:pt x="645033" y="1499615"/>
                </a:lnTo>
                <a:lnTo>
                  <a:pt x="0" y="0"/>
                </a:lnTo>
                <a:close/>
              </a:path>
              <a:path w="3382898" h="2651379">
                <a:moveTo>
                  <a:pt x="645033" y="1499615"/>
                </a:moveTo>
                <a:lnTo>
                  <a:pt x="640714" y="1441957"/>
                </a:lnTo>
                <a:lnTo>
                  <a:pt x="639317" y="1384680"/>
                </a:lnTo>
                <a:lnTo>
                  <a:pt x="639698" y="1384680"/>
                </a:lnTo>
                <a:lnTo>
                  <a:pt x="641095" y="1327530"/>
                </a:lnTo>
                <a:lnTo>
                  <a:pt x="645413" y="1269872"/>
                </a:lnTo>
                <a:lnTo>
                  <a:pt x="652653" y="1212977"/>
                </a:lnTo>
                <a:lnTo>
                  <a:pt x="662686" y="1156462"/>
                </a:lnTo>
                <a:lnTo>
                  <a:pt x="675259" y="1100708"/>
                </a:lnTo>
                <a:lnTo>
                  <a:pt x="691134" y="1045717"/>
                </a:lnTo>
                <a:lnTo>
                  <a:pt x="709421" y="991615"/>
                </a:lnTo>
                <a:lnTo>
                  <a:pt x="730377" y="938783"/>
                </a:lnTo>
                <a:lnTo>
                  <a:pt x="754126" y="886967"/>
                </a:lnTo>
                <a:lnTo>
                  <a:pt x="780414" y="836167"/>
                </a:lnTo>
                <a:lnTo>
                  <a:pt x="809243" y="787272"/>
                </a:lnTo>
                <a:lnTo>
                  <a:pt x="840105" y="740028"/>
                </a:lnTo>
                <a:lnTo>
                  <a:pt x="873633" y="694308"/>
                </a:lnTo>
                <a:lnTo>
                  <a:pt x="909573" y="650747"/>
                </a:lnTo>
                <a:lnTo>
                  <a:pt x="947419" y="609091"/>
                </a:lnTo>
                <a:lnTo>
                  <a:pt x="987425" y="569467"/>
                </a:lnTo>
                <a:lnTo>
                  <a:pt x="1029081" y="532383"/>
                </a:lnTo>
                <a:lnTo>
                  <a:pt x="1072641" y="497458"/>
                </a:lnTo>
                <a:lnTo>
                  <a:pt x="1117981" y="464692"/>
                </a:lnTo>
                <a:lnTo>
                  <a:pt x="1165225" y="434847"/>
                </a:lnTo>
                <a:lnTo>
                  <a:pt x="1213485" y="407415"/>
                </a:lnTo>
                <a:lnTo>
                  <a:pt x="1263141" y="382650"/>
                </a:lnTo>
                <a:lnTo>
                  <a:pt x="1313814" y="360679"/>
                </a:lnTo>
                <a:lnTo>
                  <a:pt x="1365631" y="341249"/>
                </a:lnTo>
                <a:lnTo>
                  <a:pt x="1418589" y="324992"/>
                </a:lnTo>
                <a:lnTo>
                  <a:pt x="1472184" y="311657"/>
                </a:lnTo>
                <a:lnTo>
                  <a:pt x="1526286" y="301243"/>
                </a:lnTo>
                <a:lnTo>
                  <a:pt x="1580895" y="293750"/>
                </a:lnTo>
                <a:lnTo>
                  <a:pt x="1635633" y="289051"/>
                </a:lnTo>
                <a:lnTo>
                  <a:pt x="1690751" y="287654"/>
                </a:lnTo>
                <a:lnTo>
                  <a:pt x="1745868" y="289051"/>
                </a:lnTo>
                <a:lnTo>
                  <a:pt x="1800479" y="293750"/>
                </a:lnTo>
                <a:lnTo>
                  <a:pt x="1855215" y="301243"/>
                </a:lnTo>
                <a:lnTo>
                  <a:pt x="1909190" y="311657"/>
                </a:lnTo>
                <a:lnTo>
                  <a:pt x="1962912" y="324992"/>
                </a:lnTo>
                <a:lnTo>
                  <a:pt x="2015363" y="341249"/>
                </a:lnTo>
                <a:lnTo>
                  <a:pt x="2067306" y="360299"/>
                </a:lnTo>
                <a:lnTo>
                  <a:pt x="2117979" y="382269"/>
                </a:lnTo>
                <a:lnTo>
                  <a:pt x="2167636" y="407162"/>
                </a:lnTo>
                <a:lnTo>
                  <a:pt x="2216277" y="434466"/>
                </a:lnTo>
                <a:lnTo>
                  <a:pt x="2263140" y="464692"/>
                </a:lnTo>
                <a:lnTo>
                  <a:pt x="2308479" y="497077"/>
                </a:lnTo>
                <a:lnTo>
                  <a:pt x="2352040" y="532002"/>
                </a:lnTo>
                <a:lnTo>
                  <a:pt x="2394077" y="569467"/>
                </a:lnTo>
                <a:lnTo>
                  <a:pt x="2433701" y="608710"/>
                </a:lnTo>
                <a:lnTo>
                  <a:pt x="2471801" y="650493"/>
                </a:lnTo>
                <a:lnTo>
                  <a:pt x="2507488" y="693927"/>
                </a:lnTo>
                <a:lnTo>
                  <a:pt x="2541016" y="739647"/>
                </a:lnTo>
                <a:lnTo>
                  <a:pt x="2572258" y="786891"/>
                </a:lnTo>
                <a:lnTo>
                  <a:pt x="2600706" y="835787"/>
                </a:lnTo>
                <a:lnTo>
                  <a:pt x="2626994" y="886587"/>
                </a:lnTo>
                <a:lnTo>
                  <a:pt x="2650743" y="938402"/>
                </a:lnTo>
                <a:lnTo>
                  <a:pt x="2671953" y="991362"/>
                </a:lnTo>
                <a:lnTo>
                  <a:pt x="2690367" y="1045337"/>
                </a:lnTo>
                <a:lnTo>
                  <a:pt x="2705862" y="1100327"/>
                </a:lnTo>
                <a:lnTo>
                  <a:pt x="2718816" y="1156207"/>
                </a:lnTo>
                <a:lnTo>
                  <a:pt x="2728848" y="1212722"/>
                </a:lnTo>
                <a:lnTo>
                  <a:pt x="2736088" y="1269491"/>
                </a:lnTo>
                <a:lnTo>
                  <a:pt x="2740406" y="1327150"/>
                </a:lnTo>
                <a:lnTo>
                  <a:pt x="2741803" y="1384427"/>
                </a:lnTo>
                <a:lnTo>
                  <a:pt x="2740406" y="1441577"/>
                </a:lnTo>
                <a:lnTo>
                  <a:pt x="2736088" y="1499234"/>
                </a:lnTo>
                <a:lnTo>
                  <a:pt x="2728848" y="1556130"/>
                </a:lnTo>
                <a:lnTo>
                  <a:pt x="2718816" y="1612518"/>
                </a:lnTo>
                <a:lnTo>
                  <a:pt x="2706242" y="1668399"/>
                </a:lnTo>
                <a:lnTo>
                  <a:pt x="2690367" y="1723389"/>
                </a:lnTo>
                <a:lnTo>
                  <a:pt x="2671953" y="1777491"/>
                </a:lnTo>
                <a:lnTo>
                  <a:pt x="2651125" y="1830324"/>
                </a:lnTo>
                <a:lnTo>
                  <a:pt x="2627376" y="1882139"/>
                </a:lnTo>
                <a:lnTo>
                  <a:pt x="2601087" y="1932939"/>
                </a:lnTo>
                <a:lnTo>
                  <a:pt x="2572258" y="1981834"/>
                </a:lnTo>
                <a:lnTo>
                  <a:pt x="2541016" y="2029078"/>
                </a:lnTo>
                <a:lnTo>
                  <a:pt x="2507488" y="2074798"/>
                </a:lnTo>
                <a:lnTo>
                  <a:pt x="2471801" y="2118360"/>
                </a:lnTo>
                <a:lnTo>
                  <a:pt x="2434082" y="2160016"/>
                </a:lnTo>
                <a:lnTo>
                  <a:pt x="2394077" y="2199640"/>
                </a:lnTo>
                <a:lnTo>
                  <a:pt x="2352293" y="2236723"/>
                </a:lnTo>
                <a:lnTo>
                  <a:pt x="2308479" y="2272029"/>
                </a:lnTo>
                <a:lnTo>
                  <a:pt x="2263140" y="2304415"/>
                </a:lnTo>
                <a:lnTo>
                  <a:pt x="2216277" y="2334260"/>
                </a:lnTo>
                <a:lnTo>
                  <a:pt x="2168016" y="2361691"/>
                </a:lnTo>
                <a:lnTo>
                  <a:pt x="2118360" y="2386456"/>
                </a:lnTo>
                <a:lnTo>
                  <a:pt x="2067560" y="2408428"/>
                </a:lnTo>
                <a:lnTo>
                  <a:pt x="2015363" y="2427859"/>
                </a:lnTo>
                <a:lnTo>
                  <a:pt x="1962912" y="2444115"/>
                </a:lnTo>
                <a:lnTo>
                  <a:pt x="1909190" y="2457322"/>
                </a:lnTo>
                <a:lnTo>
                  <a:pt x="1855215" y="2467863"/>
                </a:lnTo>
                <a:lnTo>
                  <a:pt x="1800479" y="2475356"/>
                </a:lnTo>
                <a:lnTo>
                  <a:pt x="1745868" y="2480055"/>
                </a:lnTo>
                <a:lnTo>
                  <a:pt x="1690751" y="2481453"/>
                </a:lnTo>
                <a:lnTo>
                  <a:pt x="1635633" y="2480055"/>
                </a:lnTo>
                <a:lnTo>
                  <a:pt x="1580895" y="2475356"/>
                </a:lnTo>
                <a:lnTo>
                  <a:pt x="0" y="2651379"/>
                </a:lnTo>
                <a:lnTo>
                  <a:pt x="3382898" y="2651379"/>
                </a:lnTo>
                <a:lnTo>
                  <a:pt x="3382898" y="0"/>
                </a:lnTo>
                <a:lnTo>
                  <a:pt x="0" y="0"/>
                </a:lnTo>
                <a:lnTo>
                  <a:pt x="645033" y="1499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682FE764-C751-43D2-A3C8-E2CCD02B5E5D}"/>
              </a:ext>
            </a:extLst>
          </p:cNvPr>
          <p:cNvSpPr/>
          <p:nvPr/>
        </p:nvSpPr>
        <p:spPr>
          <a:xfrm>
            <a:off x="18874" y="-43162"/>
            <a:ext cx="12196572" cy="685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026" name="Picture 2" descr="Cómo hacer un cóctel Tom Collins - Recetas de rechupete - Recetas de cocina  caseras y fáciles">
            <a:extLst>
              <a:ext uri="{FF2B5EF4-FFF2-40B4-BE49-F238E27FC236}">
                <a16:creationId xmlns:a16="http://schemas.microsoft.com/office/drawing/2014/main" id="{06E0EB12-078E-45A3-AB3C-E8927B81F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648" y="978952"/>
            <a:ext cx="8264703" cy="481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CD77A8EC-B60A-456E-9F1C-2CCC70FA3887}"/>
              </a:ext>
            </a:extLst>
          </p:cNvPr>
          <p:cNvSpPr txBox="1"/>
          <p:nvPr/>
        </p:nvSpPr>
        <p:spPr>
          <a:xfrm>
            <a:off x="228600" y="381000"/>
            <a:ext cx="13716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lang="es-CO" sz="2200" dirty="0">
                <a:solidFill>
                  <a:schemeClr val="bg1"/>
                </a:solidFill>
                <a:latin typeface="Arial"/>
                <a:cs typeface="Arial"/>
              </a:rPr>
              <a:t>Coctel</a:t>
            </a:r>
            <a:r>
              <a:rPr lang="es-CO" sz="2200" dirty="0">
                <a:latin typeface="Arial"/>
                <a:cs typeface="Arial"/>
              </a:rPr>
              <a:t> 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D9B5F5-3291-4457-AB10-E204CC4A26DE}"/>
              </a:ext>
            </a:extLst>
          </p:cNvPr>
          <p:cNvSpPr txBox="1"/>
          <p:nvPr/>
        </p:nvSpPr>
        <p:spPr>
          <a:xfrm>
            <a:off x="3810000" y="5987790"/>
            <a:ext cx="426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 COLLINS </a:t>
            </a:r>
          </a:p>
          <a:p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740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2DAB2087-9B54-4ECA-B3DF-37A27AFFA11B}"/>
              </a:ext>
            </a:extLst>
          </p:cNvPr>
          <p:cNvSpPr/>
          <p:nvPr/>
        </p:nvSpPr>
        <p:spPr>
          <a:xfrm>
            <a:off x="0" y="-7257"/>
            <a:ext cx="12196572" cy="685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DE93D12B-01C3-4682-9A90-940BA87E9C2D}"/>
              </a:ext>
            </a:extLst>
          </p:cNvPr>
          <p:cNvSpPr txBox="1"/>
          <p:nvPr/>
        </p:nvSpPr>
        <p:spPr>
          <a:xfrm>
            <a:off x="228600" y="457200"/>
            <a:ext cx="137160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lang="es-CO" sz="2200" dirty="0">
                <a:solidFill>
                  <a:schemeClr val="bg1"/>
                </a:solidFill>
                <a:latin typeface="Arial"/>
                <a:cs typeface="Arial"/>
              </a:rPr>
              <a:t>Coctel</a:t>
            </a:r>
            <a:r>
              <a:rPr lang="es-CO" sz="2200" dirty="0">
                <a:latin typeface="Arial"/>
                <a:cs typeface="Arial"/>
              </a:rPr>
              <a:t> 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13E440-D982-4DA8-A749-FFF8548029FD}"/>
              </a:ext>
            </a:extLst>
          </p:cNvPr>
          <p:cNvSpPr txBox="1"/>
          <p:nvPr/>
        </p:nvSpPr>
        <p:spPr>
          <a:xfrm>
            <a:off x="5791200" y="2742610"/>
            <a:ext cx="5562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milliliters of gin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milliliters of lemon juice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teaspoon of sugar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soda (carbonated water, siphon or soda)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slices of lemon and mint for decoration.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501150-1B29-4A47-A523-D3EA378D1F20}"/>
              </a:ext>
            </a:extLst>
          </p:cNvPr>
          <p:cNvSpPr txBox="1"/>
          <p:nvPr/>
        </p:nvSpPr>
        <p:spPr>
          <a:xfrm>
            <a:off x="1055914" y="3758273"/>
            <a:ext cx="3962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drink is from before the invention of soft drinks and in this case, it is suggested to use Old Tom Gin, since it provides more flavor.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8C2EE3-D9D8-4096-9CC4-CF10A8ECF56B}"/>
              </a:ext>
            </a:extLst>
          </p:cNvPr>
          <p:cNvSpPr txBox="1"/>
          <p:nvPr/>
        </p:nvSpPr>
        <p:spPr>
          <a:xfrm>
            <a:off x="5562600" y="1857276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Ingredients:</a:t>
            </a:r>
          </a:p>
        </p:txBody>
      </p:sp>
      <p:pic>
        <p:nvPicPr>
          <p:cNvPr id="2050" name="Picture 2" descr="Tom Collins - TU COCTELERÍA">
            <a:extLst>
              <a:ext uri="{FF2B5EF4-FFF2-40B4-BE49-F238E27FC236}">
                <a16:creationId xmlns:a16="http://schemas.microsoft.com/office/drawing/2014/main" id="{EE8DA1B6-9329-441D-A41B-BC713B600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56" y="1162147"/>
            <a:ext cx="3909315" cy="243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28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-4572" y="-1"/>
            <a:ext cx="12196572" cy="685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000" y="1271016"/>
            <a:ext cx="5439156" cy="2919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2696" y="454729"/>
            <a:ext cx="2933904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lang="es-CO" sz="2200" b="1" spc="0" dirty="0" err="1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r>
              <a:rPr lang="es-CO" sz="2200" b="1" spc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200" b="1" spc="0" dirty="0" err="1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564" y="454729"/>
            <a:ext cx="470232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2917" y="4466739"/>
            <a:ext cx="6139519" cy="11351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730" algn="just">
              <a:lnSpc>
                <a:spcPts val="1939"/>
              </a:lnSpc>
              <a:spcBef>
                <a:spcPts val="97"/>
              </a:spcBef>
            </a:pPr>
            <a:r>
              <a:rPr lang="en-US" sz="1800" spc="0" dirty="0">
                <a:latin typeface="Times New Roman"/>
                <a:cs typeface="Times New Roman"/>
              </a:rPr>
              <a:t>The data structure we are going to use for this project is a</a:t>
            </a:r>
          </a:p>
          <a:p>
            <a:pPr marL="12700" marR="26730" algn="just">
              <a:lnSpc>
                <a:spcPts val="1939"/>
              </a:lnSpc>
              <a:spcBef>
                <a:spcPts val="97"/>
              </a:spcBef>
            </a:pPr>
            <a:r>
              <a:rPr lang="en-US" sz="1800" spc="0" dirty="0">
                <a:latin typeface="Times New Roman"/>
                <a:cs typeface="Times New Roman"/>
              </a:rPr>
              <a:t>CART decision tree which will help us to predict </a:t>
            </a:r>
          </a:p>
          <a:p>
            <a:pPr marL="12700" marR="26730" algn="just">
              <a:lnSpc>
                <a:spcPts val="1939"/>
              </a:lnSpc>
              <a:spcBef>
                <a:spcPts val="97"/>
              </a:spcBef>
            </a:pPr>
            <a:r>
              <a:rPr lang="en-US" sz="1800" spc="0" dirty="0">
                <a:latin typeface="Times New Roman"/>
                <a:cs typeface="Times New Roman"/>
              </a:rPr>
              <a:t>test results by taking several variables that affect</a:t>
            </a:r>
          </a:p>
          <a:p>
            <a:pPr marL="12700" marR="26730" algn="just">
              <a:lnSpc>
                <a:spcPts val="1939"/>
              </a:lnSpc>
              <a:spcBef>
                <a:spcPts val="97"/>
              </a:spcBef>
            </a:pPr>
            <a:r>
              <a:rPr lang="en-US" sz="1800" spc="0" dirty="0">
                <a:latin typeface="Times New Roman"/>
                <a:cs typeface="Times New Roman"/>
              </a:rPr>
              <a:t>students.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4B49AF1-2D9F-4C78-8503-6B1177BF67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13" r="5831"/>
          <a:stretch/>
        </p:blipFill>
        <p:spPr>
          <a:xfrm>
            <a:off x="7010793" y="1066800"/>
            <a:ext cx="4668290" cy="4561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bject 59"/>
          <p:cNvSpPr txBox="1"/>
          <p:nvPr/>
        </p:nvSpPr>
        <p:spPr>
          <a:xfrm>
            <a:off x="1092743" y="0"/>
            <a:ext cx="3760434" cy="35577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ct val="95825"/>
              </a:lnSpc>
              <a:spcBef>
                <a:spcPts val="2120"/>
              </a:spcBef>
            </a:pPr>
            <a:r>
              <a:rPr sz="2200" b="1" spc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b="1" spc="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200" b="1" spc="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0" dirty="0">
                <a:solidFill>
                  <a:srgbClr val="FFFFFF"/>
                </a:solidFill>
                <a:latin typeface="Arial"/>
                <a:cs typeface="Arial"/>
              </a:rPr>
              <a:t>nodo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60420" y="1202436"/>
            <a:ext cx="1911857" cy="19118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4984" y="1525524"/>
            <a:ext cx="1327404" cy="1350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258696" y="1698879"/>
            <a:ext cx="3124962" cy="31264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161305" y="-114882"/>
            <a:ext cx="3676650" cy="35577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20696" y="1452372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66644" y="1437132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83279" y="1437132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79192" y="1799844"/>
            <a:ext cx="195071" cy="134111"/>
          </a:xfrm>
          <a:custGeom>
            <a:avLst/>
            <a:gdLst/>
            <a:ahLst/>
            <a:cxnLst/>
            <a:rect l="l" t="t" r="r" b="b"/>
            <a:pathLst>
              <a:path w="195071" h="134111">
                <a:moveTo>
                  <a:pt x="0" y="67055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5" y="134111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1" y="67055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5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5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456420" y="1178052"/>
            <a:ext cx="1911857" cy="19133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10983" y="1502664"/>
            <a:ext cx="1327404" cy="1350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29910" y="43992"/>
            <a:ext cx="3676650" cy="35349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2272" y="1684020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94420" y="1453896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51036" y="1319784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775192" y="1776984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5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5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5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5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5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428988" y="1702308"/>
            <a:ext cx="196595" cy="132587"/>
          </a:xfrm>
          <a:custGeom>
            <a:avLst/>
            <a:gdLst/>
            <a:ahLst/>
            <a:cxnLst/>
            <a:rect l="l" t="t" r="r" b="b"/>
            <a:pathLst>
              <a:path w="196595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7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5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7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866376" y="1520952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041892" y="1563624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121140" y="1958339"/>
            <a:ext cx="195071" cy="132587"/>
          </a:xfrm>
          <a:custGeom>
            <a:avLst/>
            <a:gdLst/>
            <a:ahLst/>
            <a:cxnLst/>
            <a:rect l="l" t="t" r="r" b="b"/>
            <a:pathLst>
              <a:path w="195071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1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4998" y="419676"/>
            <a:ext cx="1490066" cy="4055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sz="2200" b="1" spc="0" dirty="0">
                <a:solidFill>
                  <a:srgbClr val="FFFFFF"/>
                </a:solidFill>
                <a:latin typeface="Arial"/>
                <a:cs typeface="Arial"/>
              </a:rPr>
              <a:t>División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8219" y="4850760"/>
            <a:ext cx="5215984" cy="843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746">
              <a:lnSpc>
                <a:spcPts val="1535"/>
              </a:lnSpc>
              <a:spcBef>
                <a:spcPts val="76"/>
              </a:spcBef>
            </a:pP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This division is based on "</a:t>
            </a:r>
            <a:r>
              <a:rPr lang="en-US" sz="1400" spc="0" dirty="0" err="1">
                <a:solidFill>
                  <a:srgbClr val="001E33"/>
                </a:solidFill>
                <a:latin typeface="Arial"/>
                <a:cs typeface="Arial"/>
              </a:rPr>
              <a:t>simulacrotipoicfes</a:t>
            </a: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 == SI" in this case, the Gini impurity on the left equals 0.9, the Gini impurity on the right equals 0.08 and the weighted impurity is</a:t>
            </a:r>
          </a:p>
          <a:p>
            <a:pPr marL="12700" marR="26746">
              <a:lnSpc>
                <a:spcPts val="1535"/>
              </a:lnSpc>
              <a:spcBef>
                <a:spcPts val="76"/>
              </a:spcBef>
            </a:pP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0.16.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25174" y="4893601"/>
            <a:ext cx="5221966" cy="630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667">
              <a:lnSpc>
                <a:spcPts val="1535"/>
              </a:lnSpc>
              <a:spcBef>
                <a:spcPts val="76"/>
              </a:spcBef>
            </a:pP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This division is based on “</a:t>
            </a:r>
            <a:r>
              <a:rPr lang="en-US" sz="1400" spc="0" dirty="0" err="1">
                <a:solidFill>
                  <a:srgbClr val="001E33"/>
                </a:solidFill>
                <a:latin typeface="Arial"/>
                <a:cs typeface="Arial"/>
              </a:rPr>
              <a:t>Estrato</a:t>
            </a: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 == 3" in this case, the</a:t>
            </a:r>
          </a:p>
          <a:p>
            <a:pPr marL="12700" marR="30667">
              <a:lnSpc>
                <a:spcPts val="1535"/>
              </a:lnSpc>
              <a:spcBef>
                <a:spcPts val="76"/>
              </a:spcBef>
            </a:pPr>
            <a:r>
              <a:rPr lang="en-US" sz="1400" spc="0" dirty="0">
                <a:solidFill>
                  <a:srgbClr val="001E33"/>
                </a:solidFill>
                <a:latin typeface="Arial"/>
                <a:cs typeface="Arial"/>
              </a:rPr>
              <a:t>Gini impurity on the left equals 0.74, the Gini impurity on the right equals 0.27 and the weighted impurity is 0.39</a:t>
            </a:r>
          </a:p>
          <a:p>
            <a:pPr marL="12700" marR="30667">
              <a:lnSpc>
                <a:spcPct val="95825"/>
              </a:lnSpc>
              <a:spcBef>
                <a:spcPts val="70"/>
              </a:spcBef>
            </a:pPr>
            <a:r>
              <a:rPr lang="es-MX" sz="1400" spc="0" dirty="0">
                <a:solidFill>
                  <a:srgbClr val="001E33"/>
                </a:solidFill>
                <a:latin typeface="Arial"/>
                <a:cs typeface="Arial"/>
              </a:rPr>
              <a:t>.</a:t>
            </a:r>
            <a:endParaRPr lang="es-MX" sz="1400" dirty="0">
              <a:latin typeface="Arial"/>
              <a:cs typeface="Arial"/>
            </a:endParaRP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DF92EFC7-8A66-44A8-9616-636306EF1E62}"/>
              </a:ext>
            </a:extLst>
          </p:cNvPr>
          <p:cNvSpPr/>
          <p:nvPr/>
        </p:nvSpPr>
        <p:spPr>
          <a:xfrm>
            <a:off x="330661" y="2950180"/>
            <a:ext cx="1966722" cy="10031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" name="object 10">
            <a:extLst>
              <a:ext uri="{FF2B5EF4-FFF2-40B4-BE49-F238E27FC236}">
                <a16:creationId xmlns:a16="http://schemas.microsoft.com/office/drawing/2014/main" id="{585E410C-063B-4F79-91F7-6B3FE0C741DD}"/>
              </a:ext>
            </a:extLst>
          </p:cNvPr>
          <p:cNvSpPr/>
          <p:nvPr/>
        </p:nvSpPr>
        <p:spPr>
          <a:xfrm>
            <a:off x="39167" y="1683639"/>
            <a:ext cx="2833878" cy="31264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20">
            <a:extLst>
              <a:ext uri="{FF2B5EF4-FFF2-40B4-BE49-F238E27FC236}">
                <a16:creationId xmlns:a16="http://schemas.microsoft.com/office/drawing/2014/main" id="{61774624-704D-4DE5-B64D-1EF7D85DBBC6}"/>
              </a:ext>
            </a:extLst>
          </p:cNvPr>
          <p:cNvSpPr/>
          <p:nvPr/>
        </p:nvSpPr>
        <p:spPr>
          <a:xfrm>
            <a:off x="1216486" y="3129535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3" y="81035"/>
                </a:lnTo>
                <a:lnTo>
                  <a:pt x="7439" y="91719"/>
                </a:lnTo>
                <a:lnTo>
                  <a:pt x="14920" y="101534"/>
                </a:lnTo>
                <a:lnTo>
                  <a:pt x="24615" y="110309"/>
                </a:lnTo>
                <a:lnTo>
                  <a:pt x="36274" y="117872"/>
                </a:lnTo>
                <a:lnTo>
                  <a:pt x="49647" y="124053"/>
                </a:lnTo>
                <a:lnTo>
                  <a:pt x="64481" y="128680"/>
                </a:lnTo>
                <a:lnTo>
                  <a:pt x="80528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7" y="83"/>
                </a:lnTo>
                <a:lnTo>
                  <a:pt x="75829" y="1649"/>
                </a:lnTo>
                <a:lnTo>
                  <a:pt x="60103" y="5062"/>
                </a:lnTo>
                <a:lnTo>
                  <a:pt x="45661" y="10151"/>
                </a:lnTo>
                <a:lnTo>
                  <a:pt x="32753" y="16745"/>
                </a:lnTo>
                <a:lnTo>
                  <a:pt x="21630" y="24672"/>
                </a:lnTo>
                <a:lnTo>
                  <a:pt x="12543" y="33762"/>
                </a:lnTo>
                <a:lnTo>
                  <a:pt x="5741" y="43843"/>
                </a:lnTo>
                <a:lnTo>
                  <a:pt x="1477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21">
            <a:extLst>
              <a:ext uri="{FF2B5EF4-FFF2-40B4-BE49-F238E27FC236}">
                <a16:creationId xmlns:a16="http://schemas.microsoft.com/office/drawing/2014/main" id="{63CC6204-5E01-4E16-904A-EE1E078700BD}"/>
              </a:ext>
            </a:extLst>
          </p:cNvPr>
          <p:cNvSpPr/>
          <p:nvPr/>
        </p:nvSpPr>
        <p:spPr>
          <a:xfrm>
            <a:off x="1399366" y="3426715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6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6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6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6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6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B1D53E32-F70E-4CDA-AAF1-4AB1878A55CE}"/>
              </a:ext>
            </a:extLst>
          </p:cNvPr>
          <p:cNvSpPr/>
          <p:nvPr/>
        </p:nvSpPr>
        <p:spPr>
          <a:xfrm>
            <a:off x="1592914" y="3004567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23">
            <a:extLst>
              <a:ext uri="{FF2B5EF4-FFF2-40B4-BE49-F238E27FC236}">
                <a16:creationId xmlns:a16="http://schemas.microsoft.com/office/drawing/2014/main" id="{5E266236-6DA3-4DA2-93DE-095C70D7F42A}"/>
              </a:ext>
            </a:extLst>
          </p:cNvPr>
          <p:cNvSpPr/>
          <p:nvPr/>
        </p:nvSpPr>
        <p:spPr>
          <a:xfrm>
            <a:off x="805340" y="3406611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3" y="81035"/>
                </a:lnTo>
                <a:lnTo>
                  <a:pt x="7439" y="91719"/>
                </a:lnTo>
                <a:lnTo>
                  <a:pt x="14920" y="101534"/>
                </a:lnTo>
                <a:lnTo>
                  <a:pt x="24615" y="110309"/>
                </a:lnTo>
                <a:lnTo>
                  <a:pt x="36274" y="117872"/>
                </a:lnTo>
                <a:lnTo>
                  <a:pt x="49647" y="124053"/>
                </a:lnTo>
                <a:lnTo>
                  <a:pt x="64481" y="128680"/>
                </a:lnTo>
                <a:lnTo>
                  <a:pt x="80528" y="131582"/>
                </a:lnTo>
                <a:lnTo>
                  <a:pt x="97536" y="132587"/>
                </a:lnTo>
                <a:lnTo>
                  <a:pt x="102484" y="132504"/>
                </a:lnTo>
                <a:lnTo>
                  <a:pt x="119242" y="130938"/>
                </a:lnTo>
                <a:lnTo>
                  <a:pt x="134968" y="127525"/>
                </a:lnTo>
                <a:lnTo>
                  <a:pt x="149410" y="122436"/>
                </a:lnTo>
                <a:lnTo>
                  <a:pt x="162318" y="115842"/>
                </a:lnTo>
                <a:lnTo>
                  <a:pt x="173441" y="107915"/>
                </a:lnTo>
                <a:lnTo>
                  <a:pt x="182528" y="98825"/>
                </a:lnTo>
                <a:lnTo>
                  <a:pt x="189330" y="88744"/>
                </a:lnTo>
                <a:lnTo>
                  <a:pt x="193594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8" y="51552"/>
                </a:lnTo>
                <a:lnTo>
                  <a:pt x="187632" y="40868"/>
                </a:lnTo>
                <a:lnTo>
                  <a:pt x="180151" y="31053"/>
                </a:lnTo>
                <a:lnTo>
                  <a:pt x="170456" y="22278"/>
                </a:lnTo>
                <a:lnTo>
                  <a:pt x="158797" y="14715"/>
                </a:lnTo>
                <a:lnTo>
                  <a:pt x="145424" y="8534"/>
                </a:lnTo>
                <a:lnTo>
                  <a:pt x="130590" y="3907"/>
                </a:lnTo>
                <a:lnTo>
                  <a:pt x="114543" y="1005"/>
                </a:lnTo>
                <a:lnTo>
                  <a:pt x="97536" y="0"/>
                </a:lnTo>
                <a:lnTo>
                  <a:pt x="92587" y="83"/>
                </a:lnTo>
                <a:lnTo>
                  <a:pt x="75829" y="1649"/>
                </a:lnTo>
                <a:lnTo>
                  <a:pt x="60103" y="5062"/>
                </a:lnTo>
                <a:lnTo>
                  <a:pt x="45661" y="10151"/>
                </a:lnTo>
                <a:lnTo>
                  <a:pt x="32753" y="16745"/>
                </a:lnTo>
                <a:lnTo>
                  <a:pt x="21630" y="24672"/>
                </a:lnTo>
                <a:lnTo>
                  <a:pt x="12543" y="33762"/>
                </a:lnTo>
                <a:lnTo>
                  <a:pt x="5741" y="43843"/>
                </a:lnTo>
                <a:lnTo>
                  <a:pt x="1477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24">
            <a:extLst>
              <a:ext uri="{FF2B5EF4-FFF2-40B4-BE49-F238E27FC236}">
                <a16:creationId xmlns:a16="http://schemas.microsoft.com/office/drawing/2014/main" id="{203A1EBB-A58B-4D42-BA32-33026569591F}"/>
              </a:ext>
            </a:extLst>
          </p:cNvPr>
          <p:cNvSpPr/>
          <p:nvPr/>
        </p:nvSpPr>
        <p:spPr>
          <a:xfrm>
            <a:off x="625174" y="3179827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3" y="81035"/>
                </a:lnTo>
                <a:lnTo>
                  <a:pt x="7439" y="91719"/>
                </a:lnTo>
                <a:lnTo>
                  <a:pt x="14920" y="101534"/>
                </a:lnTo>
                <a:lnTo>
                  <a:pt x="24615" y="110309"/>
                </a:lnTo>
                <a:lnTo>
                  <a:pt x="36274" y="117872"/>
                </a:lnTo>
                <a:lnTo>
                  <a:pt x="49647" y="124053"/>
                </a:lnTo>
                <a:lnTo>
                  <a:pt x="64481" y="128680"/>
                </a:lnTo>
                <a:lnTo>
                  <a:pt x="80528" y="131582"/>
                </a:lnTo>
                <a:lnTo>
                  <a:pt x="97536" y="132587"/>
                </a:lnTo>
                <a:lnTo>
                  <a:pt x="102484" y="132504"/>
                </a:lnTo>
                <a:lnTo>
                  <a:pt x="119242" y="130938"/>
                </a:lnTo>
                <a:lnTo>
                  <a:pt x="134968" y="127525"/>
                </a:lnTo>
                <a:lnTo>
                  <a:pt x="149410" y="122436"/>
                </a:lnTo>
                <a:lnTo>
                  <a:pt x="162318" y="115842"/>
                </a:lnTo>
                <a:lnTo>
                  <a:pt x="173441" y="107915"/>
                </a:lnTo>
                <a:lnTo>
                  <a:pt x="182528" y="98825"/>
                </a:lnTo>
                <a:lnTo>
                  <a:pt x="189330" y="88744"/>
                </a:lnTo>
                <a:lnTo>
                  <a:pt x="193594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8" y="51552"/>
                </a:lnTo>
                <a:lnTo>
                  <a:pt x="187632" y="40868"/>
                </a:lnTo>
                <a:lnTo>
                  <a:pt x="180151" y="31053"/>
                </a:lnTo>
                <a:lnTo>
                  <a:pt x="170456" y="22278"/>
                </a:lnTo>
                <a:lnTo>
                  <a:pt x="158797" y="14715"/>
                </a:lnTo>
                <a:lnTo>
                  <a:pt x="145424" y="8534"/>
                </a:lnTo>
                <a:lnTo>
                  <a:pt x="130590" y="3907"/>
                </a:lnTo>
                <a:lnTo>
                  <a:pt x="114543" y="1005"/>
                </a:lnTo>
                <a:lnTo>
                  <a:pt x="97536" y="0"/>
                </a:lnTo>
                <a:lnTo>
                  <a:pt x="92587" y="83"/>
                </a:lnTo>
                <a:lnTo>
                  <a:pt x="75829" y="1649"/>
                </a:lnTo>
                <a:lnTo>
                  <a:pt x="60103" y="5062"/>
                </a:lnTo>
                <a:lnTo>
                  <a:pt x="45661" y="10151"/>
                </a:lnTo>
                <a:lnTo>
                  <a:pt x="32753" y="16745"/>
                </a:lnTo>
                <a:lnTo>
                  <a:pt x="21630" y="24672"/>
                </a:lnTo>
                <a:lnTo>
                  <a:pt x="12543" y="33762"/>
                </a:lnTo>
                <a:lnTo>
                  <a:pt x="5741" y="43843"/>
                </a:lnTo>
                <a:lnTo>
                  <a:pt x="1477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28">
            <a:extLst>
              <a:ext uri="{FF2B5EF4-FFF2-40B4-BE49-F238E27FC236}">
                <a16:creationId xmlns:a16="http://schemas.microsoft.com/office/drawing/2014/main" id="{1E4E9316-C800-41CA-A00D-BBE07117FF36}"/>
              </a:ext>
            </a:extLst>
          </p:cNvPr>
          <p:cNvSpPr/>
          <p:nvPr/>
        </p:nvSpPr>
        <p:spPr>
          <a:xfrm>
            <a:off x="1745314" y="3312415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4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4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4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29">
            <a:extLst>
              <a:ext uri="{FF2B5EF4-FFF2-40B4-BE49-F238E27FC236}">
                <a16:creationId xmlns:a16="http://schemas.microsoft.com/office/drawing/2014/main" id="{645E4A73-1892-4EEE-AB0D-97B2651D5D93}"/>
              </a:ext>
            </a:extLst>
          </p:cNvPr>
          <p:cNvSpPr/>
          <p:nvPr/>
        </p:nvSpPr>
        <p:spPr>
          <a:xfrm>
            <a:off x="872062" y="2957323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3" y="81035"/>
                </a:lnTo>
                <a:lnTo>
                  <a:pt x="7439" y="91719"/>
                </a:lnTo>
                <a:lnTo>
                  <a:pt x="14920" y="101534"/>
                </a:lnTo>
                <a:lnTo>
                  <a:pt x="24615" y="110309"/>
                </a:lnTo>
                <a:lnTo>
                  <a:pt x="36274" y="117872"/>
                </a:lnTo>
                <a:lnTo>
                  <a:pt x="49647" y="124053"/>
                </a:lnTo>
                <a:lnTo>
                  <a:pt x="64481" y="128680"/>
                </a:lnTo>
                <a:lnTo>
                  <a:pt x="80528" y="131582"/>
                </a:lnTo>
                <a:lnTo>
                  <a:pt x="97535" y="132587"/>
                </a:lnTo>
                <a:lnTo>
                  <a:pt x="102484" y="132504"/>
                </a:lnTo>
                <a:lnTo>
                  <a:pt x="119242" y="130938"/>
                </a:lnTo>
                <a:lnTo>
                  <a:pt x="134968" y="127525"/>
                </a:lnTo>
                <a:lnTo>
                  <a:pt x="149410" y="122436"/>
                </a:lnTo>
                <a:lnTo>
                  <a:pt x="162318" y="115842"/>
                </a:lnTo>
                <a:lnTo>
                  <a:pt x="173441" y="107915"/>
                </a:lnTo>
                <a:lnTo>
                  <a:pt x="182528" y="98825"/>
                </a:lnTo>
                <a:lnTo>
                  <a:pt x="189330" y="88744"/>
                </a:lnTo>
                <a:lnTo>
                  <a:pt x="193594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8" y="51552"/>
                </a:lnTo>
                <a:lnTo>
                  <a:pt x="187632" y="40868"/>
                </a:lnTo>
                <a:lnTo>
                  <a:pt x="180151" y="31053"/>
                </a:lnTo>
                <a:lnTo>
                  <a:pt x="170456" y="22278"/>
                </a:lnTo>
                <a:lnTo>
                  <a:pt x="158797" y="14715"/>
                </a:lnTo>
                <a:lnTo>
                  <a:pt x="145424" y="8534"/>
                </a:lnTo>
                <a:lnTo>
                  <a:pt x="130590" y="3907"/>
                </a:lnTo>
                <a:lnTo>
                  <a:pt x="114543" y="1005"/>
                </a:lnTo>
                <a:lnTo>
                  <a:pt x="97535" y="0"/>
                </a:lnTo>
                <a:lnTo>
                  <a:pt x="92587" y="83"/>
                </a:lnTo>
                <a:lnTo>
                  <a:pt x="75829" y="1649"/>
                </a:lnTo>
                <a:lnTo>
                  <a:pt x="60103" y="5062"/>
                </a:lnTo>
                <a:lnTo>
                  <a:pt x="45661" y="10151"/>
                </a:lnTo>
                <a:lnTo>
                  <a:pt x="32753" y="16745"/>
                </a:lnTo>
                <a:lnTo>
                  <a:pt x="21630" y="24672"/>
                </a:lnTo>
                <a:lnTo>
                  <a:pt x="12543" y="33762"/>
                </a:lnTo>
                <a:lnTo>
                  <a:pt x="5741" y="43843"/>
                </a:lnTo>
                <a:lnTo>
                  <a:pt x="1477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Elipse 124">
            <a:extLst>
              <a:ext uri="{FF2B5EF4-FFF2-40B4-BE49-F238E27FC236}">
                <a16:creationId xmlns:a16="http://schemas.microsoft.com/office/drawing/2014/main" id="{8C0A7FAD-6C67-43D1-93B1-23092CCBAED6}"/>
              </a:ext>
            </a:extLst>
          </p:cNvPr>
          <p:cNvSpPr/>
          <p:nvPr/>
        </p:nvSpPr>
        <p:spPr>
          <a:xfrm>
            <a:off x="3739896" y="2938997"/>
            <a:ext cx="1966722" cy="10031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9" name="object 10">
            <a:extLst>
              <a:ext uri="{FF2B5EF4-FFF2-40B4-BE49-F238E27FC236}">
                <a16:creationId xmlns:a16="http://schemas.microsoft.com/office/drawing/2014/main" id="{B51C828F-F634-4CD1-ABB4-9917EFE94A25}"/>
              </a:ext>
            </a:extLst>
          </p:cNvPr>
          <p:cNvSpPr/>
          <p:nvPr/>
        </p:nvSpPr>
        <p:spPr>
          <a:xfrm>
            <a:off x="3461847" y="1696211"/>
            <a:ext cx="2833878" cy="31264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">
            <a:extLst>
              <a:ext uri="{FF2B5EF4-FFF2-40B4-BE49-F238E27FC236}">
                <a16:creationId xmlns:a16="http://schemas.microsoft.com/office/drawing/2014/main" id="{692A2742-EA1E-4F3A-9C34-C948CFD30E60}"/>
              </a:ext>
            </a:extLst>
          </p:cNvPr>
          <p:cNvSpPr/>
          <p:nvPr/>
        </p:nvSpPr>
        <p:spPr>
          <a:xfrm>
            <a:off x="5149357" y="3009901"/>
            <a:ext cx="195071" cy="132587"/>
          </a:xfrm>
          <a:custGeom>
            <a:avLst/>
            <a:gdLst/>
            <a:ahLst/>
            <a:cxnLst/>
            <a:rect l="l" t="t" r="r" b="b"/>
            <a:pathLst>
              <a:path w="195071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5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1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5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5">
            <a:extLst>
              <a:ext uri="{FF2B5EF4-FFF2-40B4-BE49-F238E27FC236}">
                <a16:creationId xmlns:a16="http://schemas.microsoft.com/office/drawing/2014/main" id="{08DBA9C7-5884-41C6-AAFF-62C1DD08219D}"/>
              </a:ext>
            </a:extLst>
          </p:cNvPr>
          <p:cNvSpPr/>
          <p:nvPr/>
        </p:nvSpPr>
        <p:spPr>
          <a:xfrm>
            <a:off x="4178569" y="2866645"/>
            <a:ext cx="196595" cy="132587"/>
          </a:xfrm>
          <a:custGeom>
            <a:avLst/>
            <a:gdLst/>
            <a:ahLst/>
            <a:cxnLst/>
            <a:rect l="l" t="t" r="r" b="b"/>
            <a:pathLst>
              <a:path w="196595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7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5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7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6">
            <a:extLst>
              <a:ext uri="{FF2B5EF4-FFF2-40B4-BE49-F238E27FC236}">
                <a16:creationId xmlns:a16="http://schemas.microsoft.com/office/drawing/2014/main" id="{BFBFB620-BDAA-4228-9C66-831568373BAC}"/>
              </a:ext>
            </a:extLst>
          </p:cNvPr>
          <p:cNvSpPr/>
          <p:nvPr/>
        </p:nvSpPr>
        <p:spPr>
          <a:xfrm>
            <a:off x="4667773" y="3009901"/>
            <a:ext cx="196596" cy="134112"/>
          </a:xfrm>
          <a:custGeom>
            <a:avLst/>
            <a:gdLst/>
            <a:ahLst/>
            <a:cxnLst/>
            <a:rect l="l" t="t" r="r" b="b"/>
            <a:pathLst>
              <a:path w="196596" h="134112">
                <a:moveTo>
                  <a:pt x="0" y="67056"/>
                </a:moveTo>
                <a:lnTo>
                  <a:pt x="203" y="71407"/>
                </a:lnTo>
                <a:lnTo>
                  <a:pt x="2718" y="82789"/>
                </a:lnTo>
                <a:lnTo>
                  <a:pt x="7906" y="93456"/>
                </a:lnTo>
                <a:lnTo>
                  <a:pt x="15520" y="103241"/>
                </a:lnTo>
                <a:lnTo>
                  <a:pt x="25313" y="111979"/>
                </a:lnTo>
                <a:lnTo>
                  <a:pt x="37037" y="119502"/>
                </a:lnTo>
                <a:lnTo>
                  <a:pt x="50445" y="125644"/>
                </a:lnTo>
                <a:lnTo>
                  <a:pt x="65289" y="130237"/>
                </a:lnTo>
                <a:lnTo>
                  <a:pt x="81322" y="133115"/>
                </a:lnTo>
                <a:lnTo>
                  <a:pt x="98298" y="134112"/>
                </a:lnTo>
                <a:lnTo>
                  <a:pt x="104662" y="133973"/>
                </a:lnTo>
                <a:lnTo>
                  <a:pt x="121319" y="132262"/>
                </a:lnTo>
                <a:lnTo>
                  <a:pt x="136941" y="128731"/>
                </a:lnTo>
                <a:lnTo>
                  <a:pt x="151284" y="123546"/>
                </a:lnTo>
                <a:lnTo>
                  <a:pt x="164098" y="116875"/>
                </a:lnTo>
                <a:lnTo>
                  <a:pt x="175138" y="108884"/>
                </a:lnTo>
                <a:lnTo>
                  <a:pt x="184154" y="99740"/>
                </a:lnTo>
                <a:lnTo>
                  <a:pt x="190901" y="89609"/>
                </a:lnTo>
                <a:lnTo>
                  <a:pt x="195131" y="78659"/>
                </a:lnTo>
                <a:lnTo>
                  <a:pt x="196596" y="67056"/>
                </a:lnTo>
                <a:lnTo>
                  <a:pt x="196392" y="62704"/>
                </a:lnTo>
                <a:lnTo>
                  <a:pt x="193877" y="51322"/>
                </a:lnTo>
                <a:lnTo>
                  <a:pt x="188689" y="40655"/>
                </a:lnTo>
                <a:lnTo>
                  <a:pt x="181075" y="30870"/>
                </a:lnTo>
                <a:lnTo>
                  <a:pt x="171282" y="22132"/>
                </a:lnTo>
                <a:lnTo>
                  <a:pt x="159558" y="14609"/>
                </a:lnTo>
                <a:lnTo>
                  <a:pt x="146150" y="8467"/>
                </a:lnTo>
                <a:lnTo>
                  <a:pt x="131306" y="3874"/>
                </a:lnTo>
                <a:lnTo>
                  <a:pt x="115273" y="996"/>
                </a:lnTo>
                <a:lnTo>
                  <a:pt x="98298" y="0"/>
                </a:lnTo>
                <a:lnTo>
                  <a:pt x="91933" y="138"/>
                </a:lnTo>
                <a:lnTo>
                  <a:pt x="75276" y="1849"/>
                </a:lnTo>
                <a:lnTo>
                  <a:pt x="59654" y="5380"/>
                </a:lnTo>
                <a:lnTo>
                  <a:pt x="45311" y="10565"/>
                </a:lnTo>
                <a:lnTo>
                  <a:pt x="32497" y="17236"/>
                </a:lnTo>
                <a:lnTo>
                  <a:pt x="21457" y="25227"/>
                </a:lnTo>
                <a:lnTo>
                  <a:pt x="12441" y="34371"/>
                </a:lnTo>
                <a:lnTo>
                  <a:pt x="5694" y="44502"/>
                </a:lnTo>
                <a:lnTo>
                  <a:pt x="1464" y="55452"/>
                </a:lnTo>
                <a:lnTo>
                  <a:pt x="0" y="67056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7">
            <a:extLst>
              <a:ext uri="{FF2B5EF4-FFF2-40B4-BE49-F238E27FC236}">
                <a16:creationId xmlns:a16="http://schemas.microsoft.com/office/drawing/2014/main" id="{635750A2-CE2B-448C-9443-994D6091BBE6}"/>
              </a:ext>
            </a:extLst>
          </p:cNvPr>
          <p:cNvSpPr/>
          <p:nvPr/>
        </p:nvSpPr>
        <p:spPr>
          <a:xfrm>
            <a:off x="4137421" y="3162301"/>
            <a:ext cx="195071" cy="132587"/>
          </a:xfrm>
          <a:custGeom>
            <a:avLst/>
            <a:gdLst/>
            <a:ahLst/>
            <a:cxnLst/>
            <a:rect l="l" t="t" r="r" b="b"/>
            <a:pathLst>
              <a:path w="195071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1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8">
            <a:extLst>
              <a:ext uri="{FF2B5EF4-FFF2-40B4-BE49-F238E27FC236}">
                <a16:creationId xmlns:a16="http://schemas.microsoft.com/office/drawing/2014/main" id="{67AF9EBD-7FB2-4D8A-A446-399312BEA50A}"/>
              </a:ext>
            </a:extLst>
          </p:cNvPr>
          <p:cNvSpPr/>
          <p:nvPr/>
        </p:nvSpPr>
        <p:spPr>
          <a:xfrm>
            <a:off x="4600717" y="2799589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9">
            <a:extLst>
              <a:ext uri="{FF2B5EF4-FFF2-40B4-BE49-F238E27FC236}">
                <a16:creationId xmlns:a16="http://schemas.microsoft.com/office/drawing/2014/main" id="{3E2D6536-FFE3-4954-AA36-D6309E3EF4AB}"/>
              </a:ext>
            </a:extLst>
          </p:cNvPr>
          <p:cNvSpPr/>
          <p:nvPr/>
        </p:nvSpPr>
        <p:spPr>
          <a:xfrm>
            <a:off x="4716541" y="3272029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CA033A11-A370-4FC1-AAB7-DA64E647BAAC}"/>
              </a:ext>
            </a:extLst>
          </p:cNvPr>
          <p:cNvSpPr/>
          <p:nvPr/>
        </p:nvSpPr>
        <p:spPr>
          <a:xfrm>
            <a:off x="6456206" y="2963802"/>
            <a:ext cx="1966722" cy="10031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CD6664F2-4053-47D3-9754-A53E74CE5DAB}"/>
              </a:ext>
            </a:extLst>
          </p:cNvPr>
          <p:cNvSpPr/>
          <p:nvPr/>
        </p:nvSpPr>
        <p:spPr>
          <a:xfrm>
            <a:off x="9797319" y="2889916"/>
            <a:ext cx="1966722" cy="10031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9" name="object 37">
            <a:extLst>
              <a:ext uri="{FF2B5EF4-FFF2-40B4-BE49-F238E27FC236}">
                <a16:creationId xmlns:a16="http://schemas.microsoft.com/office/drawing/2014/main" id="{86B66C95-1EE9-4212-BC51-2585575132EC}"/>
              </a:ext>
            </a:extLst>
          </p:cNvPr>
          <p:cNvSpPr/>
          <p:nvPr/>
        </p:nvSpPr>
        <p:spPr>
          <a:xfrm>
            <a:off x="5913372" y="1737741"/>
            <a:ext cx="3050286" cy="30487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1" name="object 43">
            <a:extLst>
              <a:ext uri="{FF2B5EF4-FFF2-40B4-BE49-F238E27FC236}">
                <a16:creationId xmlns:a16="http://schemas.microsoft.com/office/drawing/2014/main" id="{6566639F-BE8B-45BB-8EF2-0A3A9CB845B5}"/>
              </a:ext>
            </a:extLst>
          </p:cNvPr>
          <p:cNvSpPr/>
          <p:nvPr/>
        </p:nvSpPr>
        <p:spPr>
          <a:xfrm>
            <a:off x="6910393" y="2913952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6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6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6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6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6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44">
            <a:extLst>
              <a:ext uri="{FF2B5EF4-FFF2-40B4-BE49-F238E27FC236}">
                <a16:creationId xmlns:a16="http://schemas.microsoft.com/office/drawing/2014/main" id="{171F0972-43AE-4B0D-AB22-768701750565}"/>
              </a:ext>
            </a:extLst>
          </p:cNvPr>
          <p:cNvSpPr/>
          <p:nvPr/>
        </p:nvSpPr>
        <p:spPr>
          <a:xfrm>
            <a:off x="7254817" y="3131884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3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3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3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45">
            <a:extLst>
              <a:ext uri="{FF2B5EF4-FFF2-40B4-BE49-F238E27FC236}">
                <a16:creationId xmlns:a16="http://schemas.microsoft.com/office/drawing/2014/main" id="{9926BC72-0F63-4E6F-ABC1-0735C4B9655B}"/>
              </a:ext>
            </a:extLst>
          </p:cNvPr>
          <p:cNvSpPr/>
          <p:nvPr/>
        </p:nvSpPr>
        <p:spPr>
          <a:xfrm>
            <a:off x="7507801" y="3464116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6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5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6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5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6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46">
            <a:extLst>
              <a:ext uri="{FF2B5EF4-FFF2-40B4-BE49-F238E27FC236}">
                <a16:creationId xmlns:a16="http://schemas.microsoft.com/office/drawing/2014/main" id="{6151A9D9-24A7-4BCB-B3F8-AB5003E17E55}"/>
              </a:ext>
            </a:extLst>
          </p:cNvPr>
          <p:cNvSpPr/>
          <p:nvPr/>
        </p:nvSpPr>
        <p:spPr>
          <a:xfrm>
            <a:off x="7841557" y="3337624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47">
            <a:extLst>
              <a:ext uri="{FF2B5EF4-FFF2-40B4-BE49-F238E27FC236}">
                <a16:creationId xmlns:a16="http://schemas.microsoft.com/office/drawing/2014/main" id="{64E8C921-DB8C-4210-9A64-B84A8438D0C6}"/>
              </a:ext>
            </a:extLst>
          </p:cNvPr>
          <p:cNvSpPr/>
          <p:nvPr/>
        </p:nvSpPr>
        <p:spPr>
          <a:xfrm>
            <a:off x="7105465" y="3430588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4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4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51">
            <a:extLst>
              <a:ext uri="{FF2B5EF4-FFF2-40B4-BE49-F238E27FC236}">
                <a16:creationId xmlns:a16="http://schemas.microsoft.com/office/drawing/2014/main" id="{6BC0239E-DAAB-4937-AFD3-093E3F68885F}"/>
              </a:ext>
            </a:extLst>
          </p:cNvPr>
          <p:cNvSpPr/>
          <p:nvPr/>
        </p:nvSpPr>
        <p:spPr>
          <a:xfrm>
            <a:off x="7646485" y="2982532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5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5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5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5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5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52">
            <a:extLst>
              <a:ext uri="{FF2B5EF4-FFF2-40B4-BE49-F238E27FC236}">
                <a16:creationId xmlns:a16="http://schemas.microsoft.com/office/drawing/2014/main" id="{F5C24E75-F292-41E1-AEDE-B23161D87501}"/>
              </a:ext>
            </a:extLst>
          </p:cNvPr>
          <p:cNvSpPr/>
          <p:nvPr/>
        </p:nvSpPr>
        <p:spPr>
          <a:xfrm>
            <a:off x="6675696" y="3255328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6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6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6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6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6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53">
            <a:extLst>
              <a:ext uri="{FF2B5EF4-FFF2-40B4-BE49-F238E27FC236}">
                <a16:creationId xmlns:a16="http://schemas.microsoft.com/office/drawing/2014/main" id="{63B5A11D-5BFC-4C34-A09E-902931C1B9D6}"/>
              </a:ext>
            </a:extLst>
          </p:cNvPr>
          <p:cNvSpPr/>
          <p:nvPr/>
        </p:nvSpPr>
        <p:spPr>
          <a:xfrm>
            <a:off x="8042725" y="3090736"/>
            <a:ext cx="195071" cy="134112"/>
          </a:xfrm>
          <a:custGeom>
            <a:avLst/>
            <a:gdLst/>
            <a:ahLst/>
            <a:cxnLst/>
            <a:rect l="l" t="t" r="r" b="b"/>
            <a:pathLst>
              <a:path w="195071" h="134112">
                <a:moveTo>
                  <a:pt x="0" y="67055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5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1" y="67055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5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5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37">
            <a:extLst>
              <a:ext uri="{FF2B5EF4-FFF2-40B4-BE49-F238E27FC236}">
                <a16:creationId xmlns:a16="http://schemas.microsoft.com/office/drawing/2014/main" id="{AFD2A593-CD01-49F7-AE00-1AB5421A0CE6}"/>
              </a:ext>
            </a:extLst>
          </p:cNvPr>
          <p:cNvSpPr/>
          <p:nvPr/>
        </p:nvSpPr>
        <p:spPr>
          <a:xfrm>
            <a:off x="9244834" y="1658692"/>
            <a:ext cx="3050286" cy="30487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1" name="object 39">
            <a:extLst>
              <a:ext uri="{FF2B5EF4-FFF2-40B4-BE49-F238E27FC236}">
                <a16:creationId xmlns:a16="http://schemas.microsoft.com/office/drawing/2014/main" id="{82191CA6-A2A4-4EC6-9671-6D4F39A267B3}"/>
              </a:ext>
            </a:extLst>
          </p:cNvPr>
          <p:cNvSpPr/>
          <p:nvPr/>
        </p:nvSpPr>
        <p:spPr>
          <a:xfrm>
            <a:off x="10388135" y="2951226"/>
            <a:ext cx="196596" cy="132587"/>
          </a:xfrm>
          <a:custGeom>
            <a:avLst/>
            <a:gdLst/>
            <a:ahLst/>
            <a:cxnLst/>
            <a:rect l="l" t="t" r="r" b="b"/>
            <a:pathLst>
              <a:path w="196596" h="132587">
                <a:moveTo>
                  <a:pt x="0" y="66293"/>
                </a:moveTo>
                <a:lnTo>
                  <a:pt x="169" y="70212"/>
                </a:lnTo>
                <a:lnTo>
                  <a:pt x="2607" y="81505"/>
                </a:lnTo>
                <a:lnTo>
                  <a:pt x="7744" y="92101"/>
                </a:lnTo>
                <a:lnTo>
                  <a:pt x="15331" y="101831"/>
                </a:lnTo>
                <a:lnTo>
                  <a:pt x="25118" y="110526"/>
                </a:lnTo>
                <a:lnTo>
                  <a:pt x="36855" y="118019"/>
                </a:lnTo>
                <a:lnTo>
                  <a:pt x="50291" y="124140"/>
                </a:lnTo>
                <a:lnTo>
                  <a:pt x="65177" y="128721"/>
                </a:lnTo>
                <a:lnTo>
                  <a:pt x="81263" y="131593"/>
                </a:lnTo>
                <a:lnTo>
                  <a:pt x="98298" y="132587"/>
                </a:lnTo>
                <a:lnTo>
                  <a:pt x="104107" y="132473"/>
                </a:lnTo>
                <a:lnTo>
                  <a:pt x="120851" y="130829"/>
                </a:lnTo>
                <a:lnTo>
                  <a:pt x="136562" y="127365"/>
                </a:lnTo>
                <a:lnTo>
                  <a:pt x="150989" y="122248"/>
                </a:lnTo>
                <a:lnTo>
                  <a:pt x="163882" y="115648"/>
                </a:lnTo>
                <a:lnTo>
                  <a:pt x="174992" y="107733"/>
                </a:lnTo>
                <a:lnTo>
                  <a:pt x="184069" y="98671"/>
                </a:lnTo>
                <a:lnTo>
                  <a:pt x="190861" y="88632"/>
                </a:lnTo>
                <a:lnTo>
                  <a:pt x="195120" y="77783"/>
                </a:lnTo>
                <a:lnTo>
                  <a:pt x="196596" y="66293"/>
                </a:lnTo>
                <a:lnTo>
                  <a:pt x="196426" y="62375"/>
                </a:lnTo>
                <a:lnTo>
                  <a:pt x="193988" y="51082"/>
                </a:lnTo>
                <a:lnTo>
                  <a:pt x="188851" y="40486"/>
                </a:lnTo>
                <a:lnTo>
                  <a:pt x="181264" y="30756"/>
                </a:lnTo>
                <a:lnTo>
                  <a:pt x="171477" y="22061"/>
                </a:lnTo>
                <a:lnTo>
                  <a:pt x="159740" y="14568"/>
                </a:lnTo>
                <a:lnTo>
                  <a:pt x="146304" y="8447"/>
                </a:lnTo>
                <a:lnTo>
                  <a:pt x="131418" y="3866"/>
                </a:lnTo>
                <a:lnTo>
                  <a:pt x="115332" y="994"/>
                </a:lnTo>
                <a:lnTo>
                  <a:pt x="98298" y="0"/>
                </a:lnTo>
                <a:lnTo>
                  <a:pt x="92488" y="114"/>
                </a:lnTo>
                <a:lnTo>
                  <a:pt x="75744" y="1758"/>
                </a:lnTo>
                <a:lnTo>
                  <a:pt x="60033" y="5222"/>
                </a:lnTo>
                <a:lnTo>
                  <a:pt x="45606" y="10339"/>
                </a:lnTo>
                <a:lnTo>
                  <a:pt x="32713" y="16939"/>
                </a:lnTo>
                <a:lnTo>
                  <a:pt x="21603" y="24854"/>
                </a:lnTo>
                <a:lnTo>
                  <a:pt x="12526" y="33916"/>
                </a:lnTo>
                <a:lnTo>
                  <a:pt x="5734" y="43955"/>
                </a:lnTo>
                <a:lnTo>
                  <a:pt x="1475" y="54804"/>
                </a:lnTo>
                <a:lnTo>
                  <a:pt x="0" y="66293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40">
            <a:extLst>
              <a:ext uri="{FF2B5EF4-FFF2-40B4-BE49-F238E27FC236}">
                <a16:creationId xmlns:a16="http://schemas.microsoft.com/office/drawing/2014/main" id="{6564509C-38BA-4E1C-8DB6-8BB17FDC45F1}"/>
              </a:ext>
            </a:extLst>
          </p:cNvPr>
          <p:cNvSpPr/>
          <p:nvPr/>
        </p:nvSpPr>
        <p:spPr>
          <a:xfrm>
            <a:off x="10877339" y="3094482"/>
            <a:ext cx="196596" cy="134112"/>
          </a:xfrm>
          <a:custGeom>
            <a:avLst/>
            <a:gdLst/>
            <a:ahLst/>
            <a:cxnLst/>
            <a:rect l="l" t="t" r="r" b="b"/>
            <a:pathLst>
              <a:path w="196596" h="134112">
                <a:moveTo>
                  <a:pt x="0" y="67056"/>
                </a:moveTo>
                <a:lnTo>
                  <a:pt x="203" y="71407"/>
                </a:lnTo>
                <a:lnTo>
                  <a:pt x="2718" y="82789"/>
                </a:lnTo>
                <a:lnTo>
                  <a:pt x="7906" y="93456"/>
                </a:lnTo>
                <a:lnTo>
                  <a:pt x="15520" y="103241"/>
                </a:lnTo>
                <a:lnTo>
                  <a:pt x="25313" y="111979"/>
                </a:lnTo>
                <a:lnTo>
                  <a:pt x="37037" y="119502"/>
                </a:lnTo>
                <a:lnTo>
                  <a:pt x="50445" y="125644"/>
                </a:lnTo>
                <a:lnTo>
                  <a:pt x="65289" y="130237"/>
                </a:lnTo>
                <a:lnTo>
                  <a:pt x="81322" y="133115"/>
                </a:lnTo>
                <a:lnTo>
                  <a:pt x="98298" y="134112"/>
                </a:lnTo>
                <a:lnTo>
                  <a:pt x="104662" y="133973"/>
                </a:lnTo>
                <a:lnTo>
                  <a:pt x="121319" y="132262"/>
                </a:lnTo>
                <a:lnTo>
                  <a:pt x="136941" y="128731"/>
                </a:lnTo>
                <a:lnTo>
                  <a:pt x="151284" y="123546"/>
                </a:lnTo>
                <a:lnTo>
                  <a:pt x="164098" y="116875"/>
                </a:lnTo>
                <a:lnTo>
                  <a:pt x="175138" y="108884"/>
                </a:lnTo>
                <a:lnTo>
                  <a:pt x="184154" y="99740"/>
                </a:lnTo>
                <a:lnTo>
                  <a:pt x="190901" y="89609"/>
                </a:lnTo>
                <a:lnTo>
                  <a:pt x="195131" y="78659"/>
                </a:lnTo>
                <a:lnTo>
                  <a:pt x="196596" y="67056"/>
                </a:lnTo>
                <a:lnTo>
                  <a:pt x="196392" y="62704"/>
                </a:lnTo>
                <a:lnTo>
                  <a:pt x="193877" y="51322"/>
                </a:lnTo>
                <a:lnTo>
                  <a:pt x="188689" y="40655"/>
                </a:lnTo>
                <a:lnTo>
                  <a:pt x="181075" y="30870"/>
                </a:lnTo>
                <a:lnTo>
                  <a:pt x="171282" y="22132"/>
                </a:lnTo>
                <a:lnTo>
                  <a:pt x="159558" y="14609"/>
                </a:lnTo>
                <a:lnTo>
                  <a:pt x="146150" y="8467"/>
                </a:lnTo>
                <a:lnTo>
                  <a:pt x="131306" y="3874"/>
                </a:lnTo>
                <a:lnTo>
                  <a:pt x="115273" y="996"/>
                </a:lnTo>
                <a:lnTo>
                  <a:pt x="98298" y="0"/>
                </a:lnTo>
                <a:lnTo>
                  <a:pt x="91933" y="138"/>
                </a:lnTo>
                <a:lnTo>
                  <a:pt x="75276" y="1849"/>
                </a:lnTo>
                <a:lnTo>
                  <a:pt x="59654" y="5380"/>
                </a:lnTo>
                <a:lnTo>
                  <a:pt x="45311" y="10565"/>
                </a:lnTo>
                <a:lnTo>
                  <a:pt x="32497" y="17236"/>
                </a:lnTo>
                <a:lnTo>
                  <a:pt x="21457" y="25227"/>
                </a:lnTo>
                <a:lnTo>
                  <a:pt x="12441" y="34371"/>
                </a:lnTo>
                <a:lnTo>
                  <a:pt x="5694" y="44502"/>
                </a:lnTo>
                <a:lnTo>
                  <a:pt x="1464" y="55452"/>
                </a:lnTo>
                <a:lnTo>
                  <a:pt x="0" y="67056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41">
            <a:extLst>
              <a:ext uri="{FF2B5EF4-FFF2-40B4-BE49-F238E27FC236}">
                <a16:creationId xmlns:a16="http://schemas.microsoft.com/office/drawing/2014/main" id="{71CC70AC-68BF-43BD-8F33-8EB6A9EF8339}"/>
              </a:ext>
            </a:extLst>
          </p:cNvPr>
          <p:cNvSpPr/>
          <p:nvPr/>
        </p:nvSpPr>
        <p:spPr>
          <a:xfrm>
            <a:off x="10561871" y="3245358"/>
            <a:ext cx="196596" cy="134112"/>
          </a:xfrm>
          <a:custGeom>
            <a:avLst/>
            <a:gdLst/>
            <a:ahLst/>
            <a:cxnLst/>
            <a:rect l="l" t="t" r="r" b="b"/>
            <a:pathLst>
              <a:path w="196596" h="134112">
                <a:moveTo>
                  <a:pt x="0" y="67056"/>
                </a:moveTo>
                <a:lnTo>
                  <a:pt x="203" y="71407"/>
                </a:lnTo>
                <a:lnTo>
                  <a:pt x="2718" y="82789"/>
                </a:lnTo>
                <a:lnTo>
                  <a:pt x="7906" y="93456"/>
                </a:lnTo>
                <a:lnTo>
                  <a:pt x="15520" y="103241"/>
                </a:lnTo>
                <a:lnTo>
                  <a:pt x="25313" y="111979"/>
                </a:lnTo>
                <a:lnTo>
                  <a:pt x="37037" y="119502"/>
                </a:lnTo>
                <a:lnTo>
                  <a:pt x="50445" y="125644"/>
                </a:lnTo>
                <a:lnTo>
                  <a:pt x="65289" y="130237"/>
                </a:lnTo>
                <a:lnTo>
                  <a:pt x="81322" y="133115"/>
                </a:lnTo>
                <a:lnTo>
                  <a:pt x="98298" y="134112"/>
                </a:lnTo>
                <a:lnTo>
                  <a:pt x="104662" y="133973"/>
                </a:lnTo>
                <a:lnTo>
                  <a:pt x="121319" y="132262"/>
                </a:lnTo>
                <a:lnTo>
                  <a:pt x="136941" y="128731"/>
                </a:lnTo>
                <a:lnTo>
                  <a:pt x="151284" y="123546"/>
                </a:lnTo>
                <a:lnTo>
                  <a:pt x="164098" y="116875"/>
                </a:lnTo>
                <a:lnTo>
                  <a:pt x="175138" y="108884"/>
                </a:lnTo>
                <a:lnTo>
                  <a:pt x="184154" y="99740"/>
                </a:lnTo>
                <a:lnTo>
                  <a:pt x="190901" y="89609"/>
                </a:lnTo>
                <a:lnTo>
                  <a:pt x="195131" y="78659"/>
                </a:lnTo>
                <a:lnTo>
                  <a:pt x="196596" y="67056"/>
                </a:lnTo>
                <a:lnTo>
                  <a:pt x="196392" y="62704"/>
                </a:lnTo>
                <a:lnTo>
                  <a:pt x="193877" y="51322"/>
                </a:lnTo>
                <a:lnTo>
                  <a:pt x="188689" y="40655"/>
                </a:lnTo>
                <a:lnTo>
                  <a:pt x="181075" y="30870"/>
                </a:lnTo>
                <a:lnTo>
                  <a:pt x="171282" y="22132"/>
                </a:lnTo>
                <a:lnTo>
                  <a:pt x="159558" y="14609"/>
                </a:lnTo>
                <a:lnTo>
                  <a:pt x="146150" y="8467"/>
                </a:lnTo>
                <a:lnTo>
                  <a:pt x="131306" y="3874"/>
                </a:lnTo>
                <a:lnTo>
                  <a:pt x="115273" y="996"/>
                </a:lnTo>
                <a:lnTo>
                  <a:pt x="98298" y="0"/>
                </a:lnTo>
                <a:lnTo>
                  <a:pt x="91933" y="138"/>
                </a:lnTo>
                <a:lnTo>
                  <a:pt x="75276" y="1849"/>
                </a:lnTo>
                <a:lnTo>
                  <a:pt x="59654" y="5380"/>
                </a:lnTo>
                <a:lnTo>
                  <a:pt x="45311" y="10565"/>
                </a:lnTo>
                <a:lnTo>
                  <a:pt x="32497" y="17236"/>
                </a:lnTo>
                <a:lnTo>
                  <a:pt x="21457" y="25227"/>
                </a:lnTo>
                <a:lnTo>
                  <a:pt x="12441" y="34371"/>
                </a:lnTo>
                <a:lnTo>
                  <a:pt x="5694" y="44502"/>
                </a:lnTo>
                <a:lnTo>
                  <a:pt x="1464" y="55452"/>
                </a:lnTo>
                <a:lnTo>
                  <a:pt x="0" y="67056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42">
            <a:extLst>
              <a:ext uri="{FF2B5EF4-FFF2-40B4-BE49-F238E27FC236}">
                <a16:creationId xmlns:a16="http://schemas.microsoft.com/office/drawing/2014/main" id="{655FBD71-5097-4F20-B2E1-B2D21D9EEEBA}"/>
              </a:ext>
            </a:extLst>
          </p:cNvPr>
          <p:cNvSpPr/>
          <p:nvPr/>
        </p:nvSpPr>
        <p:spPr>
          <a:xfrm>
            <a:off x="10810283" y="2884170"/>
            <a:ext cx="195072" cy="132587"/>
          </a:xfrm>
          <a:custGeom>
            <a:avLst/>
            <a:gdLst/>
            <a:ahLst/>
            <a:cxnLst/>
            <a:rect l="l" t="t" r="r" b="b"/>
            <a:pathLst>
              <a:path w="195072" h="132587">
                <a:moveTo>
                  <a:pt x="0" y="66294"/>
                </a:moveTo>
                <a:lnTo>
                  <a:pt x="2424" y="81035"/>
                </a:lnTo>
                <a:lnTo>
                  <a:pt x="7442" y="91719"/>
                </a:lnTo>
                <a:lnTo>
                  <a:pt x="14926" y="101534"/>
                </a:lnTo>
                <a:lnTo>
                  <a:pt x="24624" y="110309"/>
                </a:lnTo>
                <a:lnTo>
                  <a:pt x="36285" y="117872"/>
                </a:lnTo>
                <a:lnTo>
                  <a:pt x="49658" y="124053"/>
                </a:lnTo>
                <a:lnTo>
                  <a:pt x="64492" y="128680"/>
                </a:lnTo>
                <a:lnTo>
                  <a:pt x="80534" y="131582"/>
                </a:lnTo>
                <a:lnTo>
                  <a:pt x="97536" y="132587"/>
                </a:lnTo>
                <a:lnTo>
                  <a:pt x="102482" y="132504"/>
                </a:lnTo>
                <a:lnTo>
                  <a:pt x="119235" y="130938"/>
                </a:lnTo>
                <a:lnTo>
                  <a:pt x="134957" y="127525"/>
                </a:lnTo>
                <a:lnTo>
                  <a:pt x="149398" y="122436"/>
                </a:lnTo>
                <a:lnTo>
                  <a:pt x="162307" y="115842"/>
                </a:lnTo>
                <a:lnTo>
                  <a:pt x="173433" y="107915"/>
                </a:lnTo>
                <a:lnTo>
                  <a:pt x="182523" y="98825"/>
                </a:lnTo>
                <a:lnTo>
                  <a:pt x="189327" y="88744"/>
                </a:lnTo>
                <a:lnTo>
                  <a:pt x="193593" y="77843"/>
                </a:lnTo>
                <a:lnTo>
                  <a:pt x="195072" y="66294"/>
                </a:lnTo>
                <a:lnTo>
                  <a:pt x="194948" y="62934"/>
                </a:lnTo>
                <a:lnTo>
                  <a:pt x="192647" y="51552"/>
                </a:lnTo>
                <a:lnTo>
                  <a:pt x="187629" y="40868"/>
                </a:lnTo>
                <a:lnTo>
                  <a:pt x="180145" y="31053"/>
                </a:lnTo>
                <a:lnTo>
                  <a:pt x="170447" y="22278"/>
                </a:lnTo>
                <a:lnTo>
                  <a:pt x="158786" y="14715"/>
                </a:lnTo>
                <a:lnTo>
                  <a:pt x="145413" y="8534"/>
                </a:lnTo>
                <a:lnTo>
                  <a:pt x="130579" y="3907"/>
                </a:lnTo>
                <a:lnTo>
                  <a:pt x="114537" y="1005"/>
                </a:lnTo>
                <a:lnTo>
                  <a:pt x="97536" y="0"/>
                </a:lnTo>
                <a:lnTo>
                  <a:pt x="92589" y="83"/>
                </a:lnTo>
                <a:lnTo>
                  <a:pt x="75836" y="1649"/>
                </a:lnTo>
                <a:lnTo>
                  <a:pt x="60114" y="5062"/>
                </a:lnTo>
                <a:lnTo>
                  <a:pt x="45673" y="10151"/>
                </a:lnTo>
                <a:lnTo>
                  <a:pt x="32764" y="16745"/>
                </a:lnTo>
                <a:lnTo>
                  <a:pt x="21638" y="24672"/>
                </a:lnTo>
                <a:lnTo>
                  <a:pt x="12548" y="33762"/>
                </a:lnTo>
                <a:lnTo>
                  <a:pt x="5744" y="43843"/>
                </a:lnTo>
                <a:lnTo>
                  <a:pt x="1478" y="54744"/>
                </a:lnTo>
                <a:lnTo>
                  <a:pt x="0" y="66294"/>
                </a:lnTo>
                <a:close/>
              </a:path>
            </a:pathLst>
          </a:custGeom>
          <a:solidFill>
            <a:srgbClr val="47AC7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5">
            <a:extLst>
              <a:ext uri="{FF2B5EF4-FFF2-40B4-BE49-F238E27FC236}">
                <a16:creationId xmlns:a16="http://schemas.microsoft.com/office/drawing/2014/main" id="{DBD1D4BC-938F-46A5-AEBD-0F832EBDE89C}"/>
              </a:ext>
            </a:extLst>
          </p:cNvPr>
          <p:cNvSpPr/>
          <p:nvPr/>
        </p:nvSpPr>
        <p:spPr>
          <a:xfrm>
            <a:off x="0" y="-90614"/>
            <a:ext cx="12196572" cy="68564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4" name="object 3">
            <a:extLst>
              <a:ext uri="{FF2B5EF4-FFF2-40B4-BE49-F238E27FC236}">
                <a16:creationId xmlns:a16="http://schemas.microsoft.com/office/drawing/2014/main" id="{E1965DDE-D4C0-45C7-A1A7-F74F0A9F34D8}"/>
              </a:ext>
            </a:extLst>
          </p:cNvPr>
          <p:cNvSpPr txBox="1"/>
          <p:nvPr/>
        </p:nvSpPr>
        <p:spPr>
          <a:xfrm>
            <a:off x="149776" y="385381"/>
            <a:ext cx="1443138" cy="4055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lang="es-CO" sz="2200" b="1" dirty="0" err="1">
                <a:solidFill>
                  <a:srgbClr val="FFFFFF"/>
                </a:solidFill>
                <a:latin typeface="Arial"/>
                <a:cs typeface="Arial"/>
              </a:rPr>
              <a:t>Division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43">
            <a:extLst>
              <a:ext uri="{FF2B5EF4-FFF2-40B4-BE49-F238E27FC236}">
                <a16:creationId xmlns:a16="http://schemas.microsoft.com/office/drawing/2014/main" id="{1085C4AA-0F1B-4FAD-AC78-9B5B67ADCC06}"/>
              </a:ext>
            </a:extLst>
          </p:cNvPr>
          <p:cNvSpPr/>
          <p:nvPr/>
        </p:nvSpPr>
        <p:spPr>
          <a:xfrm>
            <a:off x="10009054" y="3064828"/>
            <a:ext cx="195072" cy="134112"/>
          </a:xfrm>
          <a:custGeom>
            <a:avLst/>
            <a:gdLst/>
            <a:ahLst/>
            <a:cxnLst/>
            <a:rect l="l" t="t" r="r" b="b"/>
            <a:pathLst>
              <a:path w="195072" h="134112">
                <a:moveTo>
                  <a:pt x="0" y="67056"/>
                </a:moveTo>
                <a:lnTo>
                  <a:pt x="153" y="70848"/>
                </a:lnTo>
                <a:lnTo>
                  <a:pt x="2533" y="82318"/>
                </a:lnTo>
                <a:lnTo>
                  <a:pt x="7603" y="93074"/>
                </a:lnTo>
                <a:lnTo>
                  <a:pt x="15115" y="102945"/>
                </a:lnTo>
                <a:lnTo>
                  <a:pt x="24819" y="111762"/>
                </a:lnTo>
                <a:lnTo>
                  <a:pt x="36468" y="119356"/>
                </a:lnTo>
                <a:lnTo>
                  <a:pt x="49812" y="125557"/>
                </a:lnTo>
                <a:lnTo>
                  <a:pt x="64604" y="130197"/>
                </a:lnTo>
                <a:lnTo>
                  <a:pt x="80595" y="133105"/>
                </a:lnTo>
                <a:lnTo>
                  <a:pt x="97536" y="134112"/>
                </a:lnTo>
                <a:lnTo>
                  <a:pt x="103043" y="134006"/>
                </a:lnTo>
                <a:lnTo>
                  <a:pt x="119707" y="132373"/>
                </a:lnTo>
                <a:lnTo>
                  <a:pt x="135341" y="128893"/>
                </a:lnTo>
                <a:lnTo>
                  <a:pt x="149697" y="123735"/>
                </a:lnTo>
                <a:lnTo>
                  <a:pt x="162526" y="117070"/>
                </a:lnTo>
                <a:lnTo>
                  <a:pt x="173580" y="109066"/>
                </a:lnTo>
                <a:lnTo>
                  <a:pt x="182610" y="99893"/>
                </a:lnTo>
                <a:lnTo>
                  <a:pt x="189367" y="89721"/>
                </a:lnTo>
                <a:lnTo>
                  <a:pt x="193604" y="78719"/>
                </a:lnTo>
                <a:lnTo>
                  <a:pt x="195072" y="67056"/>
                </a:lnTo>
                <a:lnTo>
                  <a:pt x="194918" y="63263"/>
                </a:lnTo>
                <a:lnTo>
                  <a:pt x="192538" y="51793"/>
                </a:lnTo>
                <a:lnTo>
                  <a:pt x="187468" y="41037"/>
                </a:lnTo>
                <a:lnTo>
                  <a:pt x="179956" y="31166"/>
                </a:lnTo>
                <a:lnTo>
                  <a:pt x="170252" y="22349"/>
                </a:lnTo>
                <a:lnTo>
                  <a:pt x="158603" y="14755"/>
                </a:lnTo>
                <a:lnTo>
                  <a:pt x="145259" y="8554"/>
                </a:lnTo>
                <a:lnTo>
                  <a:pt x="130467" y="3914"/>
                </a:lnTo>
                <a:lnTo>
                  <a:pt x="114476" y="1006"/>
                </a:lnTo>
                <a:lnTo>
                  <a:pt x="97536" y="0"/>
                </a:lnTo>
                <a:lnTo>
                  <a:pt x="92028" y="105"/>
                </a:lnTo>
                <a:lnTo>
                  <a:pt x="75364" y="1738"/>
                </a:lnTo>
                <a:lnTo>
                  <a:pt x="59730" y="5218"/>
                </a:lnTo>
                <a:lnTo>
                  <a:pt x="45374" y="10376"/>
                </a:lnTo>
                <a:lnTo>
                  <a:pt x="32545" y="17041"/>
                </a:lnTo>
                <a:lnTo>
                  <a:pt x="21491" y="25045"/>
                </a:lnTo>
                <a:lnTo>
                  <a:pt x="12461" y="34218"/>
                </a:lnTo>
                <a:lnTo>
                  <a:pt x="5704" y="44390"/>
                </a:lnTo>
                <a:lnTo>
                  <a:pt x="1467" y="55392"/>
                </a:lnTo>
                <a:lnTo>
                  <a:pt x="0" y="67056"/>
                </a:lnTo>
                <a:close/>
              </a:path>
            </a:pathLst>
          </a:custGeom>
          <a:solidFill>
            <a:srgbClr val="00AA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Marcador de contenido 3"/>
          <p:cNvPicPr/>
          <p:nvPr/>
        </p:nvPicPr>
        <p:blipFill>
          <a:blip r:embed="rId2"/>
          <a:stretch/>
        </p:blipFill>
        <p:spPr>
          <a:xfrm>
            <a:off x="9321" y="-29030"/>
            <a:ext cx="12196800" cy="7115629"/>
          </a:xfrm>
          <a:prstGeom prst="rect">
            <a:avLst/>
          </a:prstGeom>
          <a:ln>
            <a:noFill/>
          </a:ln>
        </p:spPr>
      </p:pic>
      <p:sp>
        <p:nvSpPr>
          <p:cNvPr id="176" name="CustomShape 1"/>
          <p:cNvSpPr/>
          <p:nvPr/>
        </p:nvSpPr>
        <p:spPr>
          <a:xfrm>
            <a:off x="265320" y="376920"/>
            <a:ext cx="468768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Complexity of the Algorithm</a:t>
            </a:r>
          </a:p>
        </p:txBody>
      </p:sp>
      <p:sp>
        <p:nvSpPr>
          <p:cNvPr id="177" name="CustomShape 2"/>
          <p:cNvSpPr/>
          <p:nvPr/>
        </p:nvSpPr>
        <p:spPr>
          <a:xfrm>
            <a:off x="401250" y="4227080"/>
            <a:ext cx="5536590" cy="16297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1E33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complexity is this, because it would be the number of rows per column and as each floor has 2 nodes minimum then it would be 2 at m.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1E33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 being the rows.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1E33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 being the columns.</a:t>
            </a:r>
            <a:endParaRPr lang="es-MX" sz="2000" b="0" strike="noStrike" spc="-1" dirty="0">
              <a:solidFill>
                <a:srgbClr val="001E33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graphicFrame>
        <p:nvGraphicFramePr>
          <p:cNvPr id="186" name="Table 11"/>
          <p:cNvGraphicFramePr/>
          <p:nvPr>
            <p:extLst>
              <p:ext uri="{D42A27DB-BD31-4B8C-83A1-F6EECF244321}">
                <p14:modId xmlns:p14="http://schemas.microsoft.com/office/powerpoint/2010/main" val="912522090"/>
              </p:ext>
            </p:extLst>
          </p:nvPr>
        </p:nvGraphicFramePr>
        <p:xfrm>
          <a:off x="401250" y="1280493"/>
          <a:ext cx="5536590" cy="2848556"/>
        </p:xfrm>
        <a:graphic>
          <a:graphicData uri="http://schemas.openxmlformats.org/drawingml/2006/table">
            <a:tbl>
              <a:tblPr/>
              <a:tblGrid>
                <a:gridCol w="184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9202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Time complexity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800" b="1" strike="noStrike" spc="-1" dirty="0" err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Complexity in memory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2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Model training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O(N*2</a:t>
                      </a:r>
                      <a:r>
                        <a:rPr lang="en-US" sz="1800" b="0" strike="noStrike" spc="-1" baseline="3300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)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O(N*M*2</a:t>
                      </a:r>
                      <a:r>
                        <a:rPr lang="en-US" sz="1800" b="0" strike="noStrike" spc="-1" baseline="3300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)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1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Model validation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 dirty="0" err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O(N*M)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O(N)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0204384-21A2-485D-A0FD-A451E8A6C5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 descr="Imagen que contiene interior, persona, tabla, computer&#10;&#10;Descripción generada automáticamente">
            <a:extLst>
              <a:ext uri="{FF2B5EF4-FFF2-40B4-BE49-F238E27FC236}">
                <a16:creationId xmlns:a16="http://schemas.microsoft.com/office/drawing/2014/main" id="{9D9E95E3-B506-496C-BAE1-19D2B14CD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280493"/>
            <a:ext cx="5453153" cy="4434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Marcador de contenido 3"/>
          <p:cNvPicPr/>
          <p:nvPr/>
        </p:nvPicPr>
        <p:blipFill>
          <a:blip r:embed="rId3"/>
          <a:stretch/>
        </p:blipFill>
        <p:spPr>
          <a:xfrm>
            <a:off x="3950" y="-24071"/>
            <a:ext cx="12196800" cy="6856560"/>
          </a:xfrm>
          <a:prstGeom prst="rect">
            <a:avLst/>
          </a:prstGeom>
          <a:ln>
            <a:noFill/>
          </a:ln>
        </p:spPr>
      </p:pic>
      <p:sp>
        <p:nvSpPr>
          <p:cNvPr id="191" name="CustomShape 1"/>
          <p:cNvSpPr/>
          <p:nvPr/>
        </p:nvSpPr>
        <p:spPr>
          <a:xfrm>
            <a:off x="265320" y="376920"/>
            <a:ext cx="448920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Decision Tree Model</a:t>
            </a:r>
            <a:endParaRPr lang="en-US" sz="2200" b="0" strike="noStrike" spc="-1" dirty="0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945648" y="4649716"/>
            <a:ext cx="5028120" cy="95265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1E33"/>
                </a:solidFill>
                <a:latin typeface="Arial"/>
                <a:ea typeface="Noto Sans CJK SC Regular"/>
              </a:rPr>
              <a:t>A decision tree to predict the outcome of Saber Pro using the results of Saber 11. Blue represents nodes with high probability of success; green medium probability; and red low probability.</a:t>
            </a:r>
          </a:p>
        </p:txBody>
      </p:sp>
      <p:sp>
        <p:nvSpPr>
          <p:cNvPr id="201" name="CustomShape 11"/>
          <p:cNvSpPr/>
          <p:nvPr/>
        </p:nvSpPr>
        <p:spPr>
          <a:xfrm>
            <a:off x="7311571" y="1284840"/>
            <a:ext cx="438876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001E33"/>
                </a:solidFill>
                <a:latin typeface="Arial"/>
                <a:ea typeface="DejaVu Sans"/>
              </a:rPr>
              <a:t>Most Relevant Features</a:t>
            </a:r>
          </a:p>
        </p:txBody>
      </p:sp>
      <p:sp>
        <p:nvSpPr>
          <p:cNvPr id="202" name="CustomShape 12"/>
          <p:cNvSpPr/>
          <p:nvPr/>
        </p:nvSpPr>
        <p:spPr>
          <a:xfrm>
            <a:off x="8682060" y="2010240"/>
            <a:ext cx="2895480" cy="24607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1E33"/>
                </a:solidFill>
                <a:latin typeface="Arial"/>
                <a:ea typeface="DejaVu Sans"/>
              </a:rPr>
              <a:t>English</a:t>
            </a: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1E33"/>
                </a:solidFill>
                <a:latin typeface="Arial"/>
                <a:ea typeface="DejaVu Sans"/>
              </a:rPr>
              <a:t>Gender</a:t>
            </a:r>
          </a:p>
          <a:p>
            <a:pPr>
              <a:lnSpc>
                <a:spcPct val="100000"/>
              </a:lnSpc>
            </a:pPr>
            <a:endParaRPr lang="en-US" sz="2200" spc="-1" dirty="0">
              <a:solidFill>
                <a:srgbClr val="001E33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Arial"/>
              </a:rPr>
              <a:t>Resident</a:t>
            </a:r>
            <a:endParaRPr lang="en-US" sz="2200" b="0" strike="noStrike" spc="-1" dirty="0">
              <a:latin typeface="Arial"/>
            </a:endParaRPr>
          </a:p>
        </p:txBody>
      </p:sp>
      <p:pic>
        <p:nvPicPr>
          <p:cNvPr id="203" name="Imagen 202"/>
          <p:cNvPicPr/>
          <p:nvPr/>
        </p:nvPicPr>
        <p:blipFill>
          <a:blip r:embed="rId4"/>
          <a:stretch/>
        </p:blipFill>
        <p:spPr>
          <a:xfrm>
            <a:off x="7859670" y="2568885"/>
            <a:ext cx="666360" cy="666360"/>
          </a:xfrm>
          <a:prstGeom prst="rect">
            <a:avLst/>
          </a:prstGeom>
          <a:ln>
            <a:noFill/>
          </a:ln>
        </p:spPr>
      </p:pic>
      <p:pic>
        <p:nvPicPr>
          <p:cNvPr id="204" name="Imagen 203"/>
          <p:cNvPicPr/>
          <p:nvPr/>
        </p:nvPicPr>
        <p:blipFill>
          <a:blip r:embed="rId5"/>
          <a:stretch/>
        </p:blipFill>
        <p:spPr>
          <a:xfrm>
            <a:off x="8011886" y="3249315"/>
            <a:ext cx="344520" cy="618840"/>
          </a:xfrm>
          <a:prstGeom prst="rect">
            <a:avLst/>
          </a:prstGeom>
          <a:ln>
            <a:noFill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7A1B86FE-C510-443A-935B-771A36020E3C}"/>
              </a:ext>
            </a:extLst>
          </p:cNvPr>
          <p:cNvSpPr/>
          <p:nvPr/>
        </p:nvSpPr>
        <p:spPr>
          <a:xfrm>
            <a:off x="2873256" y="1269881"/>
            <a:ext cx="838200" cy="7863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443AEB-2A53-437E-8AC3-5FD150B0EC1F}"/>
              </a:ext>
            </a:extLst>
          </p:cNvPr>
          <p:cNvSpPr/>
          <p:nvPr/>
        </p:nvSpPr>
        <p:spPr>
          <a:xfrm rot="18706992" flipH="1">
            <a:off x="3784267" y="1840643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05E88C-E12E-4AF6-B270-745D18D7CBA2}"/>
              </a:ext>
            </a:extLst>
          </p:cNvPr>
          <p:cNvSpPr/>
          <p:nvPr/>
        </p:nvSpPr>
        <p:spPr>
          <a:xfrm rot="2870168" flipH="1">
            <a:off x="2748315" y="1844684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4451FABE-97B9-4B0C-91F5-024BC9852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6" t="13692" r="7217" b="9872"/>
          <a:stretch/>
        </p:blipFill>
        <p:spPr bwMode="auto">
          <a:xfrm>
            <a:off x="9753600" y="3323520"/>
            <a:ext cx="537633" cy="48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65AB4EE-5DB7-46E2-A0BE-EA45FBD6CF36}"/>
              </a:ext>
            </a:extLst>
          </p:cNvPr>
          <p:cNvSpPr txBox="1"/>
          <p:nvPr/>
        </p:nvSpPr>
        <p:spPr>
          <a:xfrm>
            <a:off x="2413529" y="977063"/>
            <a:ext cx="2092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Score English( &gt;= -A)</a:t>
            </a: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93A99412-6805-4198-979F-4DFF279EA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73" y="3978528"/>
            <a:ext cx="477946" cy="46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506CF163-43DE-4176-B786-F730ADBB5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6" t="13692" r="7217" b="9872"/>
          <a:stretch/>
        </p:blipFill>
        <p:spPr bwMode="auto">
          <a:xfrm>
            <a:off x="10215032" y="3985858"/>
            <a:ext cx="537633" cy="48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Elipse 21">
            <a:extLst>
              <a:ext uri="{FF2B5EF4-FFF2-40B4-BE49-F238E27FC236}">
                <a16:creationId xmlns:a16="http://schemas.microsoft.com/office/drawing/2014/main" id="{4F9F49C4-2953-4FD8-919D-983FFB607156}"/>
              </a:ext>
            </a:extLst>
          </p:cNvPr>
          <p:cNvSpPr/>
          <p:nvPr/>
        </p:nvSpPr>
        <p:spPr>
          <a:xfrm>
            <a:off x="1858253" y="2230685"/>
            <a:ext cx="838200" cy="786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593422-67FE-4787-A75A-8F1D552FC15A}"/>
              </a:ext>
            </a:extLst>
          </p:cNvPr>
          <p:cNvSpPr/>
          <p:nvPr/>
        </p:nvSpPr>
        <p:spPr>
          <a:xfrm rot="20320746" flipH="1">
            <a:off x="2542577" y="2965932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E08C1DA-C258-4880-AF39-40D15994E187}"/>
              </a:ext>
            </a:extLst>
          </p:cNvPr>
          <p:cNvSpPr/>
          <p:nvPr/>
        </p:nvSpPr>
        <p:spPr>
          <a:xfrm rot="1586942" flipH="1">
            <a:off x="1835394" y="2883277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BB3D33E-3868-47FC-AA71-225FC08019B8}"/>
              </a:ext>
            </a:extLst>
          </p:cNvPr>
          <p:cNvSpPr/>
          <p:nvPr/>
        </p:nvSpPr>
        <p:spPr>
          <a:xfrm>
            <a:off x="3726952" y="2252887"/>
            <a:ext cx="838200" cy="786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B68A304-70DC-4429-9B25-D369886FCBB4}"/>
              </a:ext>
            </a:extLst>
          </p:cNvPr>
          <p:cNvSpPr/>
          <p:nvPr/>
        </p:nvSpPr>
        <p:spPr>
          <a:xfrm rot="20195172" flipH="1">
            <a:off x="4463439" y="2939204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F2FEF28-BA30-4AD9-9A05-CA2C49755C74}"/>
              </a:ext>
            </a:extLst>
          </p:cNvPr>
          <p:cNvSpPr/>
          <p:nvPr/>
        </p:nvSpPr>
        <p:spPr>
          <a:xfrm rot="1038052" flipH="1">
            <a:off x="3793415" y="2941534"/>
            <a:ext cx="45719" cy="57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4C10E58-3CBD-4862-A12B-6232F422D365}"/>
              </a:ext>
            </a:extLst>
          </p:cNvPr>
          <p:cNvSpPr/>
          <p:nvPr/>
        </p:nvSpPr>
        <p:spPr>
          <a:xfrm>
            <a:off x="4310141" y="3398137"/>
            <a:ext cx="838200" cy="786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F43DF187-24BA-48A2-B0B8-1175996AD246}"/>
              </a:ext>
            </a:extLst>
          </p:cNvPr>
          <p:cNvSpPr/>
          <p:nvPr/>
        </p:nvSpPr>
        <p:spPr>
          <a:xfrm>
            <a:off x="3315307" y="3415218"/>
            <a:ext cx="838200" cy="786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88C7D0BB-3DA5-40EE-BA1B-9B767F05FD3B}"/>
              </a:ext>
            </a:extLst>
          </p:cNvPr>
          <p:cNvSpPr/>
          <p:nvPr/>
        </p:nvSpPr>
        <p:spPr>
          <a:xfrm>
            <a:off x="2208093" y="3369795"/>
            <a:ext cx="838200" cy="786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EE343EF-94F4-4966-B80A-FAA44037F5EB}"/>
              </a:ext>
            </a:extLst>
          </p:cNvPr>
          <p:cNvSpPr/>
          <p:nvPr/>
        </p:nvSpPr>
        <p:spPr>
          <a:xfrm>
            <a:off x="1161550" y="3369795"/>
            <a:ext cx="838200" cy="786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13E8BC5-561B-4044-989B-AA5079119F19}"/>
              </a:ext>
            </a:extLst>
          </p:cNvPr>
          <p:cNvSpPr txBox="1"/>
          <p:nvPr/>
        </p:nvSpPr>
        <p:spPr>
          <a:xfrm>
            <a:off x="3784771" y="1769508"/>
            <a:ext cx="687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12D1F49-B443-469E-9C26-C89A9BF8D939}"/>
              </a:ext>
            </a:extLst>
          </p:cNvPr>
          <p:cNvSpPr txBox="1"/>
          <p:nvPr/>
        </p:nvSpPr>
        <p:spPr>
          <a:xfrm>
            <a:off x="2533423" y="2960847"/>
            <a:ext cx="687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79637AA-AC62-4944-85B8-1F57B9F79915}"/>
              </a:ext>
            </a:extLst>
          </p:cNvPr>
          <p:cNvSpPr txBox="1"/>
          <p:nvPr/>
        </p:nvSpPr>
        <p:spPr>
          <a:xfrm>
            <a:off x="4577722" y="2984708"/>
            <a:ext cx="687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Oficial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8202137-A444-4FF6-BF11-C7B5A55F14EA}"/>
              </a:ext>
            </a:extLst>
          </p:cNvPr>
          <p:cNvSpPr txBox="1"/>
          <p:nvPr/>
        </p:nvSpPr>
        <p:spPr>
          <a:xfrm>
            <a:off x="2308281" y="1783080"/>
            <a:ext cx="687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7DEBA7B-155C-4C00-80A4-696B09A25524}"/>
              </a:ext>
            </a:extLst>
          </p:cNvPr>
          <p:cNvSpPr txBox="1"/>
          <p:nvPr/>
        </p:nvSpPr>
        <p:spPr>
          <a:xfrm>
            <a:off x="3026302" y="3014762"/>
            <a:ext cx="826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No </a:t>
            </a:r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Oficial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9BC263B-83D7-4B4E-B08B-3DB0CEF43903}"/>
              </a:ext>
            </a:extLst>
          </p:cNvPr>
          <p:cNvSpPr txBox="1"/>
          <p:nvPr/>
        </p:nvSpPr>
        <p:spPr>
          <a:xfrm>
            <a:off x="1252534" y="2934624"/>
            <a:ext cx="687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6A5E036-05CB-4D17-A529-FA236FB7EB80}"/>
              </a:ext>
            </a:extLst>
          </p:cNvPr>
          <p:cNvSpPr txBox="1"/>
          <p:nvPr/>
        </p:nvSpPr>
        <p:spPr>
          <a:xfrm>
            <a:off x="1178739" y="2127986"/>
            <a:ext cx="806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F4809C1-4EA4-4500-8F83-9EEE9405347F}"/>
              </a:ext>
            </a:extLst>
          </p:cNvPr>
          <p:cNvSpPr txBox="1"/>
          <p:nvPr/>
        </p:nvSpPr>
        <p:spPr>
          <a:xfrm>
            <a:off x="2161919" y="4160577"/>
            <a:ext cx="12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: 0.3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870B9C8-6F6B-42C3-B4DD-A67583FFE6E9}"/>
              </a:ext>
            </a:extLst>
          </p:cNvPr>
          <p:cNvSpPr txBox="1"/>
          <p:nvPr/>
        </p:nvSpPr>
        <p:spPr>
          <a:xfrm>
            <a:off x="4310141" y="4211615"/>
            <a:ext cx="12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: 0.15</a:t>
            </a:r>
          </a:p>
        </p:txBody>
      </p:sp>
      <p:sp>
        <p:nvSpPr>
          <p:cNvPr id="4096" name="CuadroTexto 4095">
            <a:extLst>
              <a:ext uri="{FF2B5EF4-FFF2-40B4-BE49-F238E27FC236}">
                <a16:creationId xmlns:a16="http://schemas.microsoft.com/office/drawing/2014/main" id="{51ADFB09-5E71-461C-81C0-306A0395C8ED}"/>
              </a:ext>
            </a:extLst>
          </p:cNvPr>
          <p:cNvSpPr txBox="1"/>
          <p:nvPr/>
        </p:nvSpPr>
        <p:spPr>
          <a:xfrm>
            <a:off x="4471633" y="2071501"/>
            <a:ext cx="942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C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Marcador de contenido 3"/>
          <p:cNvPicPr/>
          <p:nvPr/>
        </p:nvPicPr>
        <p:blipFill>
          <a:blip r:embed="rId2"/>
          <a:stretch/>
        </p:blipFill>
        <p:spPr>
          <a:xfrm>
            <a:off x="0" y="0"/>
            <a:ext cx="12196800" cy="6856560"/>
          </a:xfrm>
          <a:prstGeom prst="rect">
            <a:avLst/>
          </a:prstGeom>
          <a:ln>
            <a:noFill/>
          </a:ln>
        </p:spPr>
      </p:pic>
      <p:sp>
        <p:nvSpPr>
          <p:cNvPr id="212" name="CustomShape 1"/>
          <p:cNvSpPr/>
          <p:nvPr/>
        </p:nvSpPr>
        <p:spPr>
          <a:xfrm>
            <a:off x="265320" y="376920"/>
            <a:ext cx="348336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Evaluation Metrics</a:t>
            </a:r>
            <a:endParaRPr lang="en-US" sz="2200" b="0" strike="noStrike" spc="-1" dirty="0">
              <a:latin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FF979B8-B7D9-4588-9DE0-86AA01246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0" y="902633"/>
            <a:ext cx="4876800" cy="332422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949E7BF-096F-4FDC-98C2-577732CA1781}"/>
              </a:ext>
            </a:extLst>
          </p:cNvPr>
          <p:cNvSpPr/>
          <p:nvPr/>
        </p:nvSpPr>
        <p:spPr>
          <a:xfrm>
            <a:off x="684880" y="4499449"/>
            <a:ext cx="213728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D649AF-E771-4093-8C2E-EFEF2D85D096}"/>
              </a:ext>
            </a:extLst>
          </p:cNvPr>
          <p:cNvSpPr/>
          <p:nvPr/>
        </p:nvSpPr>
        <p:spPr>
          <a:xfrm>
            <a:off x="689937" y="4961401"/>
            <a:ext cx="213728" cy="228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DB3974D-1292-47CB-8974-A6A9A5EDDB06}"/>
              </a:ext>
            </a:extLst>
          </p:cNvPr>
          <p:cNvSpPr/>
          <p:nvPr/>
        </p:nvSpPr>
        <p:spPr>
          <a:xfrm>
            <a:off x="3050360" y="4966748"/>
            <a:ext cx="21372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34A5432-E86B-46F4-9718-79D6A35C437E}"/>
              </a:ext>
            </a:extLst>
          </p:cNvPr>
          <p:cNvSpPr/>
          <p:nvPr/>
        </p:nvSpPr>
        <p:spPr>
          <a:xfrm>
            <a:off x="3050360" y="4482503"/>
            <a:ext cx="213728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3CD05B6-DC25-498A-A20F-272DE73F741B}"/>
              </a:ext>
            </a:extLst>
          </p:cNvPr>
          <p:cNvSpPr txBox="1"/>
          <p:nvPr/>
        </p:nvSpPr>
        <p:spPr>
          <a:xfrm>
            <a:off x="911367" y="4447365"/>
            <a:ext cx="171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False </a:t>
            </a:r>
            <a:r>
              <a:rPr lang="es-CO" dirty="0" err="1"/>
              <a:t>negatives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5EE7CD-4CCF-4460-BCC3-CE18A35EBB8F}"/>
              </a:ext>
            </a:extLst>
          </p:cNvPr>
          <p:cNvSpPr txBox="1"/>
          <p:nvPr/>
        </p:nvSpPr>
        <p:spPr>
          <a:xfrm>
            <a:off x="3311520" y="4412137"/>
            <a:ext cx="227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True </a:t>
            </a:r>
            <a:r>
              <a:rPr lang="es-CO" dirty="0" err="1"/>
              <a:t>negatives</a:t>
            </a:r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134964-34D9-4D3D-8087-5EDF9C47CCAB}"/>
              </a:ext>
            </a:extLst>
          </p:cNvPr>
          <p:cNvSpPr txBox="1"/>
          <p:nvPr/>
        </p:nvSpPr>
        <p:spPr>
          <a:xfrm>
            <a:off x="868829" y="4905344"/>
            <a:ext cx="218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True positives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0892934-ACF6-4E42-B21C-424611A29597}"/>
              </a:ext>
            </a:extLst>
          </p:cNvPr>
          <p:cNvSpPr txBox="1"/>
          <p:nvPr/>
        </p:nvSpPr>
        <p:spPr>
          <a:xfrm>
            <a:off x="3329270" y="4914917"/>
            <a:ext cx="171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False positives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421CB81-58FA-4B72-887C-76BFD3D9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095" y="2102777"/>
            <a:ext cx="726707" cy="742571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2846ADB-4119-4F96-BAE2-2168E138ADFE}"/>
              </a:ext>
            </a:extLst>
          </p:cNvPr>
          <p:cNvSpPr txBox="1"/>
          <p:nvPr/>
        </p:nvSpPr>
        <p:spPr>
          <a:xfrm>
            <a:off x="5589946" y="1503157"/>
            <a:ext cx="203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157C94EC-3824-48E7-85ED-7D11B8A638C5}"/>
              </a:ext>
            </a:extLst>
          </p:cNvPr>
          <p:cNvCxnSpPr>
            <a:cxnSpLocks/>
          </p:cNvCxnSpPr>
          <p:nvPr/>
        </p:nvCxnSpPr>
        <p:spPr>
          <a:xfrm>
            <a:off x="7315200" y="1905000"/>
            <a:ext cx="1463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9" name="Imagen 28">
            <a:extLst>
              <a:ext uri="{FF2B5EF4-FFF2-40B4-BE49-F238E27FC236}">
                <a16:creationId xmlns:a16="http://schemas.microsoft.com/office/drawing/2014/main" id="{710D3F35-7ACD-4FAC-A1CE-075DB9BB4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439" y="888672"/>
            <a:ext cx="586224" cy="870825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D91DE392-63BF-4BED-8F98-EC94192E5190}"/>
              </a:ext>
            </a:extLst>
          </p:cNvPr>
          <p:cNvSpPr txBox="1"/>
          <p:nvPr/>
        </p:nvSpPr>
        <p:spPr>
          <a:xfrm>
            <a:off x="8490305" y="3221527"/>
            <a:ext cx="203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9F13B16-EC7E-4709-9D46-B71F6B91A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5400" y="2477116"/>
            <a:ext cx="647904" cy="962448"/>
          </a:xfrm>
          <a:prstGeom prst="rect">
            <a:avLst/>
          </a:prstGeom>
        </p:spPr>
      </p:pic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B59DEE8-BDB0-4E3C-B33B-EE16EFC8F58D}"/>
              </a:ext>
            </a:extLst>
          </p:cNvPr>
          <p:cNvCxnSpPr>
            <a:cxnSpLocks/>
          </p:cNvCxnSpPr>
          <p:nvPr/>
        </p:nvCxnSpPr>
        <p:spPr>
          <a:xfrm>
            <a:off x="10247381" y="3581400"/>
            <a:ext cx="1447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" name="Imagen 36">
            <a:extLst>
              <a:ext uri="{FF2B5EF4-FFF2-40B4-BE49-F238E27FC236}">
                <a16:creationId xmlns:a16="http://schemas.microsoft.com/office/drawing/2014/main" id="{873FE508-EAAC-4A4D-A8B2-62C5C51D1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3582" y="3683192"/>
            <a:ext cx="884893" cy="80225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950272D-58F1-4B21-A248-822B1A940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054" y="4961401"/>
            <a:ext cx="1134346" cy="836672"/>
          </a:xfrm>
          <a:prstGeom prst="rect">
            <a:avLst/>
          </a:prstGeom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6C6ADA2-F4F2-4BBD-B6E0-9A9CAE2BF8EA}"/>
              </a:ext>
            </a:extLst>
          </p:cNvPr>
          <p:cNvCxnSpPr>
            <a:cxnSpLocks/>
          </p:cNvCxnSpPr>
          <p:nvPr/>
        </p:nvCxnSpPr>
        <p:spPr>
          <a:xfrm>
            <a:off x="7218218" y="4815897"/>
            <a:ext cx="1463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8E8E318-D0B7-4F84-AF48-1289AB9F9F5E}"/>
              </a:ext>
            </a:extLst>
          </p:cNvPr>
          <p:cNvSpPr txBox="1"/>
          <p:nvPr/>
        </p:nvSpPr>
        <p:spPr>
          <a:xfrm>
            <a:off x="5879982" y="4550636"/>
            <a:ext cx="203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Exactly</a:t>
            </a:r>
            <a:r>
              <a:rPr 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5561AD-F9B2-48A0-95DB-824E98A72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796" y="3919400"/>
            <a:ext cx="772926" cy="789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Marcador de contenido 3"/>
          <p:cNvPicPr/>
          <p:nvPr/>
        </p:nvPicPr>
        <p:blipFill>
          <a:blip r:embed="rId2"/>
          <a:stretch/>
        </p:blipFill>
        <p:spPr>
          <a:xfrm>
            <a:off x="0" y="1440"/>
            <a:ext cx="12192000" cy="6856560"/>
          </a:xfrm>
          <a:prstGeom prst="rect">
            <a:avLst/>
          </a:prstGeom>
          <a:ln>
            <a:noFill/>
          </a:ln>
        </p:spPr>
      </p:pic>
      <p:sp>
        <p:nvSpPr>
          <p:cNvPr id="226" name="CustomShape 1"/>
          <p:cNvSpPr/>
          <p:nvPr/>
        </p:nvSpPr>
        <p:spPr>
          <a:xfrm>
            <a:off x="265320" y="376920"/>
            <a:ext cx="329976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Evaluation Metrics</a:t>
            </a:r>
            <a:endParaRPr lang="en-US" sz="2200" b="0" strike="noStrike" spc="-1" dirty="0">
              <a:latin typeface="Arial"/>
            </a:endParaRPr>
          </a:p>
        </p:txBody>
      </p:sp>
      <p:graphicFrame>
        <p:nvGraphicFramePr>
          <p:cNvPr id="233" name="Table 8"/>
          <p:cNvGraphicFramePr/>
          <p:nvPr>
            <p:extLst>
              <p:ext uri="{D42A27DB-BD31-4B8C-83A1-F6EECF244321}">
                <p14:modId xmlns:p14="http://schemas.microsoft.com/office/powerpoint/2010/main" val="3337831011"/>
              </p:ext>
            </p:extLst>
          </p:nvPr>
        </p:nvGraphicFramePr>
        <p:xfrm>
          <a:off x="663480" y="1479060"/>
          <a:ext cx="5075640" cy="2967300"/>
        </p:xfrm>
        <a:graphic>
          <a:graphicData uri="http://schemas.openxmlformats.org/drawingml/2006/table">
            <a:tbl>
              <a:tblPr/>
              <a:tblGrid>
                <a:gridCol w="153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69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Training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Set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set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Exactly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0.7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0.6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1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u="non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55.5%</a:t>
                      </a:r>
                      <a:endParaRPr lang="en-US" sz="1800" b="0" u="none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54%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1" strike="noStrike" spc="-1" dirty="0" err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0.6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0.5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" name="CustomShape 9"/>
          <p:cNvSpPr/>
          <p:nvPr/>
        </p:nvSpPr>
        <p:spPr>
          <a:xfrm>
            <a:off x="663480" y="4893480"/>
            <a:ext cx="5028120" cy="7372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1E33"/>
                </a:solidFill>
                <a:latin typeface="Arial"/>
                <a:ea typeface="Noto Sans CJK SC Regular"/>
              </a:rPr>
              <a:t>Evaluation metrics obtained with the training data set of 135,000 students and the validation data set of 45,000 students</a:t>
            </a:r>
          </a:p>
        </p:txBody>
      </p:sp>
      <p:pic>
        <p:nvPicPr>
          <p:cNvPr id="5124" name="Picture 4" descr="CULTURA - Página web de periodicodoblevia">
            <a:extLst>
              <a:ext uri="{FF2B5EF4-FFF2-40B4-BE49-F238E27FC236}">
                <a16:creationId xmlns:a16="http://schemas.microsoft.com/office/drawing/2014/main" id="{A2B6CFF5-F459-497B-BE58-959FF4DE7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101" y="1736516"/>
            <a:ext cx="5943600" cy="338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Marcador de contenido 3"/>
          <p:cNvPicPr/>
          <p:nvPr/>
        </p:nvPicPr>
        <p:blipFill>
          <a:blip r:embed="rId2"/>
          <a:stretch/>
        </p:blipFill>
        <p:spPr>
          <a:xfrm>
            <a:off x="-2880" y="0"/>
            <a:ext cx="12196800" cy="6856560"/>
          </a:xfrm>
          <a:prstGeom prst="rect">
            <a:avLst/>
          </a:prstGeom>
          <a:ln>
            <a:noFill/>
          </a:ln>
        </p:spPr>
      </p:pic>
      <p:sp>
        <p:nvSpPr>
          <p:cNvPr id="240" name="CustomShape 1"/>
          <p:cNvSpPr/>
          <p:nvPr/>
        </p:nvSpPr>
        <p:spPr>
          <a:xfrm>
            <a:off x="265320" y="376920"/>
            <a:ext cx="5402880" cy="429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Time and Memory consumption</a:t>
            </a:r>
            <a:endParaRPr lang="en-US" sz="2200" b="0" strike="noStrike" spc="-1" dirty="0">
              <a:latin typeface="Arial"/>
            </a:endParaRPr>
          </a:p>
        </p:txBody>
      </p:sp>
      <p:graphicFrame>
        <p:nvGraphicFramePr>
          <p:cNvPr id="246" name="Gráfico 245"/>
          <p:cNvGraphicFramePr/>
          <p:nvPr/>
        </p:nvGraphicFramePr>
        <p:xfrm>
          <a:off x="6071040" y="1878120"/>
          <a:ext cx="5759280" cy="323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49" name="Imagen 248"/>
          <p:cNvPicPr/>
          <p:nvPr/>
        </p:nvPicPr>
        <p:blipFill>
          <a:blip r:embed="rId4"/>
          <a:stretch/>
        </p:blipFill>
        <p:spPr>
          <a:xfrm>
            <a:off x="2885100" y="892662"/>
            <a:ext cx="527400" cy="527400"/>
          </a:xfrm>
          <a:prstGeom prst="rect">
            <a:avLst/>
          </a:prstGeom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BCD8E4-1104-4A14-9005-55A08C0B83BE}"/>
              </a:ext>
            </a:extLst>
          </p:cNvPr>
          <p:cNvPicPr/>
          <p:nvPr/>
        </p:nvPicPr>
        <p:blipFill>
          <a:blip r:embed="rId5"/>
          <a:srcRect l="28235" t="24851" r="28737" b="25399"/>
          <a:stretch/>
        </p:blipFill>
        <p:spPr>
          <a:xfrm>
            <a:off x="8594460" y="872142"/>
            <a:ext cx="712440" cy="547920"/>
          </a:xfrm>
          <a:prstGeom prst="rect">
            <a:avLst/>
          </a:prstGeom>
          <a:ln>
            <a:noFill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31239C1-B5AA-4369-90E0-4C1BB4CE02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994" y="1676400"/>
            <a:ext cx="5477615" cy="39624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FBEE67F-4D1E-48C5-8515-E963A1E92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96" y="1676400"/>
            <a:ext cx="5656608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2" name="Rectangle 31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reative Ways to Say Thanks to Your Volunteers: Associations Now">
            <a:extLst>
              <a:ext uri="{FF2B5EF4-FFF2-40B4-BE49-F238E27FC236}">
                <a16:creationId xmlns:a16="http://schemas.microsoft.com/office/drawing/2014/main" id="{3A030BC6-18A4-4B50-AECF-91A7C64AF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" r="23138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" name="Rectangle 3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CustomShape 1"/>
          <p:cNvSpPr/>
          <p:nvPr/>
        </p:nvSpPr>
        <p:spPr>
          <a:xfrm>
            <a:off x="481029" y="2968752"/>
            <a:ext cx="3709971" cy="154698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spc="-1" dirty="0">
                <a:latin typeface="+mj-lt"/>
                <a:ea typeface="+mj-ea"/>
                <a:cs typeface="+mj-cs"/>
              </a:rPr>
              <a:t>F</a:t>
            </a:r>
            <a:r>
              <a:rPr lang="en-US" sz="4800" b="0" strike="noStrike" spc="-1" dirty="0">
                <a:latin typeface="+mj-lt"/>
                <a:ea typeface="+mj-ea"/>
                <a:cs typeface="+mj-cs"/>
              </a:rPr>
              <a:t>or your attention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428</Words>
  <Application>Microsoft Office PowerPoint</Application>
  <PresentationFormat>Panorámica</PresentationFormat>
  <Paragraphs>98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Andres Vera Alvarez</dc:creator>
  <cp:lastModifiedBy>tomas marin a</cp:lastModifiedBy>
  <cp:revision>7</cp:revision>
  <dcterms:created xsi:type="dcterms:W3CDTF">2020-11-18T20:16:11Z</dcterms:created>
  <dcterms:modified xsi:type="dcterms:W3CDTF">2020-11-20T19:33:32Z</dcterms:modified>
</cp:coreProperties>
</file>